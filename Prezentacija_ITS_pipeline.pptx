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72865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C25700"/>
                </a:solidFill>
                <a:latin typeface="Calibri"/>
              </a:rPr>
              <a:t>NAPREDNE TEHNIKE RA</a:t>
            </a:r>
            <a:r>
              <a:rPr lang="en-US" sz="1400" b="1" i="0" dirty="0">
                <a:solidFill>
                  <a:srgbClr val="C25700"/>
                </a:solidFill>
                <a:latin typeface="Calibri"/>
              </a:rPr>
              <a:t>ČU</a:t>
            </a:r>
            <a:r>
              <a:rPr sz="1400" b="1" i="0" dirty="0">
                <a:solidFill>
                  <a:srgbClr val="C25700"/>
                </a:solidFill>
                <a:latin typeface="Calibri"/>
              </a:rPr>
              <a:t>NARSKE INTELIGENCIJE - MASTER, FTN 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728655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>
                <a:solidFill>
                  <a:srgbClr val="1B365D"/>
                </a:solidFill>
                <a:latin typeface="Calibri"/>
              </a:rPr>
              <a:t>Od </a:t>
            </a:r>
            <a:r>
              <a:rPr sz="4000" b="1" i="0" dirty="0" err="1">
                <a:solidFill>
                  <a:srgbClr val="1B365D"/>
                </a:solidFill>
                <a:latin typeface="Calibri"/>
              </a:rPr>
              <a:t>ishoda</a:t>
            </a:r>
            <a:r>
              <a:rPr sz="4000" b="1" i="0" dirty="0">
                <a:solidFill>
                  <a:srgbClr val="1B365D"/>
                </a:solidFill>
                <a:latin typeface="Calibri"/>
              </a:rPr>
              <a:t> </a:t>
            </a:r>
            <a:r>
              <a:rPr sz="4000" b="1" i="0" dirty="0" err="1">
                <a:solidFill>
                  <a:srgbClr val="1B365D"/>
                </a:solidFill>
                <a:latin typeface="Calibri"/>
              </a:rPr>
              <a:t>u</a:t>
            </a:r>
            <a:r>
              <a:rPr lang="en-US" sz="4000" b="1" i="0" dirty="0" err="1">
                <a:solidFill>
                  <a:srgbClr val="1B365D"/>
                </a:solidFill>
                <a:latin typeface="Calibri"/>
              </a:rPr>
              <a:t>č</a:t>
            </a:r>
            <a:r>
              <a:rPr sz="4000" b="1" i="0" dirty="0" err="1">
                <a:solidFill>
                  <a:srgbClr val="1B365D"/>
                </a:solidFill>
                <a:latin typeface="Calibri"/>
              </a:rPr>
              <a:t>enja</a:t>
            </a:r>
            <a:r>
              <a:rPr sz="4000" b="1" i="0" dirty="0">
                <a:solidFill>
                  <a:srgbClr val="1B365D"/>
                </a:solidFill>
                <a:latin typeface="Calibri"/>
              </a:rPr>
              <a:t> do </a:t>
            </a:r>
            <a:r>
              <a:rPr sz="4000" b="1" i="0" dirty="0" err="1">
                <a:solidFill>
                  <a:srgbClr val="1B365D"/>
                </a:solidFill>
                <a:latin typeface="Calibri"/>
              </a:rPr>
              <a:t>automatizovanog</a:t>
            </a:r>
            <a:r>
              <a:rPr sz="4000" b="1" i="0" dirty="0">
                <a:solidFill>
                  <a:srgbClr val="1B365D"/>
                </a:solidFill>
                <a:latin typeface="Calibri"/>
              </a:rPr>
              <a:t> ITS-a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383280"/>
            <a:ext cx="1097280" cy="30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356616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4B5563"/>
                </a:solidFill>
                <a:latin typeface="Calibri"/>
              </a:rPr>
              <a:t>LLM-driven pipeline za generisanje strukture kursa, video demonstracija i pitanja zasnovanih na SOLO taksonomiji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48640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Tim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10728655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 dirty="0" err="1">
                <a:solidFill>
                  <a:srgbClr val="1F2937"/>
                </a:solidFill>
                <a:latin typeface="Calibri"/>
              </a:rPr>
              <a:t>Uro</a:t>
            </a:r>
            <a:r>
              <a:rPr lang="en-US" sz="1700" b="0" i="0" dirty="0" err="1">
                <a:solidFill>
                  <a:srgbClr val="1F2937"/>
                </a:solidFill>
                <a:latin typeface="Calibri"/>
              </a:rPr>
              <a:t>š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Petra</a:t>
            </a:r>
            <a:r>
              <a:rPr lang="en-US" sz="1700" dirty="0" err="1">
                <a:solidFill>
                  <a:srgbClr val="1F2937"/>
                </a:solidFill>
                <a:latin typeface="Calibri"/>
              </a:rPr>
              <a:t>š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kovi</a:t>
            </a:r>
            <a:r>
              <a:rPr lang="en-US" sz="1700" dirty="0" err="1">
                <a:solidFill>
                  <a:srgbClr val="1F2937"/>
                </a:solidFill>
                <a:latin typeface="Calibri"/>
              </a:rPr>
              <a:t>ć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- Luka </a:t>
            </a:r>
            <a:r>
              <a:rPr lang="en-US" sz="1700" b="0" i="0" dirty="0" err="1">
                <a:solidFill>
                  <a:srgbClr val="1F2937"/>
                </a:solidFill>
                <a:latin typeface="Calibri"/>
              </a:rPr>
              <a:t>Š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ari</a:t>
            </a:r>
            <a:r>
              <a:rPr lang="en-US" sz="1700" b="0" i="0" dirty="0" err="1">
                <a:solidFill>
                  <a:srgbClr val="1F2937"/>
                </a:solidFill>
                <a:latin typeface="Calibri"/>
              </a:rPr>
              <a:t>ć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- Stefan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Lazarevi</a:t>
            </a:r>
            <a:r>
              <a:rPr lang="en-US" sz="1700" b="0" i="0" dirty="0" err="1">
                <a:solidFill>
                  <a:srgbClr val="1F2937"/>
                </a:solidFill>
                <a:latin typeface="Calibri"/>
              </a:rPr>
              <a:t>ć</a:t>
            </a:r>
            <a:endParaRPr sz="1700" b="0" i="0" dirty="0">
              <a:solidFill>
                <a:srgbClr val="1F2937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7240" y="621792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2026.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Tim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Tri projekta sa predmeta SOTIS - jedan integrisan ITS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3515258" cy="445312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351525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849069" y="1719072"/>
            <a:ext cx="914400" cy="914400"/>
          </a:xfrm>
          <a:prstGeom prst="ellipse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16352"/>
            <a:ext cx="305805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 dirty="0" err="1">
                <a:solidFill>
                  <a:srgbClr val="1B365D"/>
                </a:solidFill>
                <a:latin typeface="Calibri"/>
              </a:rPr>
              <a:t>Uro</a:t>
            </a:r>
            <a:r>
              <a:rPr lang="en-US" sz="1800" b="1" i="0" dirty="0" err="1">
                <a:solidFill>
                  <a:srgbClr val="1B365D"/>
                </a:solidFill>
                <a:latin typeface="Calibri"/>
              </a:rPr>
              <a:t>š</a:t>
            </a:r>
            <a:r>
              <a:rPr sz="1800" b="1" i="0" dirty="0">
                <a:solidFill>
                  <a:srgbClr val="1B365D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B365D"/>
                </a:solidFill>
                <a:latin typeface="Calibri"/>
              </a:rPr>
              <a:t>Petra</a:t>
            </a:r>
            <a:r>
              <a:rPr lang="en-US" sz="1800" b="1" i="0" dirty="0" err="1">
                <a:solidFill>
                  <a:srgbClr val="1B365D"/>
                </a:solidFill>
                <a:latin typeface="Calibri"/>
              </a:rPr>
              <a:t>š</a:t>
            </a:r>
            <a:r>
              <a:rPr sz="1800" b="1" i="0" dirty="0" err="1">
                <a:solidFill>
                  <a:srgbClr val="1B365D"/>
                </a:solidFill>
                <a:latin typeface="Calibri"/>
              </a:rPr>
              <a:t>kovi</a:t>
            </a:r>
            <a:r>
              <a:rPr lang="en-US" b="1" dirty="0" err="1">
                <a:solidFill>
                  <a:srgbClr val="1B365D"/>
                </a:solidFill>
                <a:latin typeface="Calibri"/>
              </a:rPr>
              <a:t>ć</a:t>
            </a:r>
            <a:endParaRPr sz="1800" b="1" i="0" dirty="0">
              <a:solidFill>
                <a:srgbClr val="1B365D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7240" y="3182112"/>
            <a:ext cx="305805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1">
                <a:solidFill>
                  <a:srgbClr val="C25700"/>
                </a:solidFill>
                <a:latin typeface="Calibri"/>
              </a:rPr>
              <a:t>SOLO Quiz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639312"/>
            <a:ext cx="3058058" cy="692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dirty="0" err="1">
                <a:solidFill>
                  <a:srgbClr val="1F2937"/>
                </a:solidFill>
                <a:latin typeface="Calibri"/>
              </a:rPr>
              <a:t>Generisanje</a:t>
            </a:r>
            <a:r>
              <a:rPr sz="15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937"/>
                </a:solidFill>
                <a:latin typeface="Calibri"/>
              </a:rPr>
              <a:t>pitanja</a:t>
            </a:r>
            <a:r>
              <a:rPr sz="1500" b="0" i="0" dirty="0">
                <a:solidFill>
                  <a:srgbClr val="1F2937"/>
                </a:solidFill>
                <a:latin typeface="Calibri"/>
              </a:rPr>
              <a:t> po SOLO </a:t>
            </a:r>
            <a:r>
              <a:rPr sz="1500" b="0" i="0" dirty="0" err="1">
                <a:solidFill>
                  <a:srgbClr val="1F2937"/>
                </a:solidFill>
                <a:latin typeface="Calibri"/>
              </a:rPr>
              <a:t>taksonomiji</a:t>
            </a:r>
            <a:r>
              <a:rPr sz="15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937"/>
                </a:solidFill>
                <a:latin typeface="Calibri"/>
              </a:rPr>
              <a:t>uz</a:t>
            </a:r>
            <a:r>
              <a:rPr sz="15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937"/>
                </a:solidFill>
                <a:latin typeface="Calibri"/>
              </a:rPr>
              <a:t>ontolo</a:t>
            </a:r>
            <a:r>
              <a:rPr lang="en-US" sz="1500" dirty="0" err="1">
                <a:solidFill>
                  <a:srgbClr val="1F2937"/>
                </a:solidFill>
                <a:latin typeface="Calibri"/>
              </a:rPr>
              <a:t>š</a:t>
            </a:r>
            <a:r>
              <a:rPr sz="1500" b="0" i="0" dirty="0" err="1">
                <a:solidFill>
                  <a:srgbClr val="1F2937"/>
                </a:solidFill>
                <a:latin typeface="Calibri"/>
              </a:rPr>
              <a:t>ki</a:t>
            </a:r>
            <a:r>
              <a:rPr sz="1500" b="0" i="0" dirty="0">
                <a:solidFill>
                  <a:srgbClr val="1F2937"/>
                </a:solidFill>
                <a:latin typeface="Calibri"/>
              </a:rPr>
              <a:t> grounding</a:t>
            </a:r>
            <a:r>
              <a:rPr lang="en-US" sz="15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lang="en-US" sz="1500" b="0" i="0" dirty="0" err="1">
                <a:solidFill>
                  <a:srgbClr val="1F2937"/>
                </a:solidFill>
                <a:latin typeface="Calibri"/>
              </a:rPr>
              <a:t>i</a:t>
            </a:r>
            <a:r>
              <a:rPr lang="en-US" sz="15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lang="en-US" sz="1500" b="0" i="0" dirty="0" err="1">
                <a:solidFill>
                  <a:srgbClr val="1F2937"/>
                </a:solidFill>
                <a:latin typeface="Calibri"/>
              </a:rPr>
              <a:t>pedagoško</a:t>
            </a:r>
            <a:r>
              <a:rPr lang="en-US" sz="15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lang="en-US" sz="1500" b="0" i="0" dirty="0" err="1">
                <a:solidFill>
                  <a:srgbClr val="1F2937"/>
                </a:solidFill>
                <a:latin typeface="Calibri"/>
              </a:rPr>
              <a:t>parsiranje</a:t>
            </a:r>
            <a:r>
              <a:rPr lang="en-US" sz="15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lang="en-US" sz="1500" b="0" i="0" dirty="0" err="1">
                <a:solidFill>
                  <a:srgbClr val="1F2937"/>
                </a:solidFill>
                <a:latin typeface="Calibri"/>
              </a:rPr>
              <a:t>sadržaja</a:t>
            </a:r>
            <a:endParaRPr sz="1500" b="0" i="0" dirty="0">
              <a:solidFill>
                <a:srgbClr val="1F2937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38218" y="1444752"/>
            <a:ext cx="3515258" cy="445312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8218" y="1444752"/>
            <a:ext cx="351525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638647" y="1719072"/>
            <a:ext cx="914400" cy="914400"/>
          </a:xfrm>
          <a:prstGeom prst="ellipse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6818" y="2816352"/>
            <a:ext cx="305805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 dirty="0">
                <a:solidFill>
                  <a:srgbClr val="1B365D"/>
                </a:solidFill>
                <a:latin typeface="Calibri"/>
              </a:rPr>
              <a:t>Luka </a:t>
            </a:r>
            <a:r>
              <a:rPr lang="en-US" b="1" dirty="0">
                <a:solidFill>
                  <a:srgbClr val="1B365D"/>
                </a:solidFill>
                <a:latin typeface="Calibri"/>
              </a:rPr>
              <a:t>S</a:t>
            </a:r>
            <a:r>
              <a:rPr sz="1800" b="1" i="0" dirty="0">
                <a:solidFill>
                  <a:srgbClr val="1B365D"/>
                </a:solidFill>
                <a:latin typeface="Calibri"/>
              </a:rPr>
              <a:t>aric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6818" y="3182112"/>
            <a:ext cx="305805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1">
                <a:solidFill>
                  <a:srgbClr val="C25700"/>
                </a:solidFill>
                <a:latin typeface="Calibri"/>
              </a:rPr>
              <a:t>Course Structure Generator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6818" y="3639312"/>
            <a:ext cx="3058058" cy="2258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dirty="0" err="1">
                <a:solidFill>
                  <a:srgbClr val="1F2937"/>
                </a:solidFill>
                <a:latin typeface="Calibri"/>
              </a:rPr>
              <a:t>Automatska</a:t>
            </a:r>
            <a:r>
              <a:rPr sz="15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937"/>
                </a:solidFill>
                <a:latin typeface="Calibri"/>
              </a:rPr>
              <a:t>struktura</a:t>
            </a:r>
            <a:r>
              <a:rPr sz="15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937"/>
                </a:solidFill>
                <a:latin typeface="Calibri"/>
              </a:rPr>
              <a:t>kursa</a:t>
            </a:r>
            <a:r>
              <a:rPr sz="1500" b="0" i="0" dirty="0">
                <a:solidFill>
                  <a:srgbClr val="1F2937"/>
                </a:solidFill>
                <a:latin typeface="Calibri"/>
              </a:rPr>
              <a:t> po </a:t>
            </a:r>
            <a:r>
              <a:rPr sz="1500" b="0" i="0" dirty="0" err="1">
                <a:solidFill>
                  <a:srgbClr val="1F2937"/>
                </a:solidFill>
                <a:latin typeface="Calibri"/>
              </a:rPr>
              <a:t>Bloomovoj</a:t>
            </a:r>
            <a:r>
              <a:rPr sz="15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937"/>
                </a:solidFill>
                <a:latin typeface="Calibri"/>
              </a:rPr>
              <a:t>taksonomiji</a:t>
            </a:r>
            <a:r>
              <a:rPr sz="1500" b="0" i="0" dirty="0">
                <a:solidFill>
                  <a:srgbClr val="1F2937"/>
                </a:solidFill>
                <a:latin typeface="Calibri"/>
              </a:rPr>
              <a:t> - moduli, </a:t>
            </a:r>
            <a:r>
              <a:rPr sz="1500" b="0" i="0" dirty="0" err="1">
                <a:solidFill>
                  <a:srgbClr val="1F2937"/>
                </a:solidFill>
                <a:latin typeface="Calibri"/>
              </a:rPr>
              <a:t>koncepti</a:t>
            </a:r>
            <a:r>
              <a:rPr sz="1500" b="0" i="0" dirty="0">
                <a:solidFill>
                  <a:srgbClr val="1F2937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1F2937"/>
                </a:solidFill>
                <a:latin typeface="Calibri"/>
              </a:rPr>
              <a:t>ishodi</a:t>
            </a:r>
            <a:r>
              <a:rPr sz="1500" b="0" i="0" dirty="0">
                <a:solidFill>
                  <a:srgbClr val="1F2937"/>
                </a:solidFill>
                <a:latin typeface="Calibri"/>
              </a:rPr>
              <a:t>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7796" y="1444752"/>
            <a:ext cx="3515258" cy="445312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27796" y="1444752"/>
            <a:ext cx="351525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428225" y="1719072"/>
            <a:ext cx="914400" cy="914400"/>
          </a:xfrm>
          <a:prstGeom prst="ellipse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6396" y="2816352"/>
            <a:ext cx="305805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1B365D"/>
                </a:solidFill>
                <a:latin typeface="Calibri"/>
              </a:rPr>
              <a:t>Stefan Lazarevic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6396" y="3182112"/>
            <a:ext cx="305805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1">
                <a:solidFill>
                  <a:srgbClr val="C25700"/>
                </a:solidFill>
                <a:latin typeface="Calibri"/>
              </a:rPr>
              <a:t>Computer Use Video Tutorials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6396" y="3639312"/>
            <a:ext cx="3058058" cy="2258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Video demonstracije praktickih zadataka uz OWL validaciju izvrsnog plana.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2 / 62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5 segmenata - tematska organizacija, ne po projektima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109728" cy="85770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640080" cy="8577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1B365D"/>
                </a:solidFill>
                <a:latin typeface="Calibri"/>
              </a:rPr>
              <a:t>00.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490472"/>
            <a:ext cx="835121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Uvod i motivacija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01952"/>
            <a:ext cx="8351215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500" dirty="0" err="1">
                <a:solidFill>
                  <a:srgbClr val="4B5563"/>
                </a:solidFill>
                <a:latin typeface="Calibri"/>
              </a:rPr>
              <a:t>Š</a:t>
            </a:r>
            <a:r>
              <a:rPr sz="1500" b="0" i="0" dirty="0" err="1">
                <a:solidFill>
                  <a:srgbClr val="4B5563"/>
                </a:solidFill>
                <a:latin typeface="Calibri"/>
              </a:rPr>
              <a:t>ta</a:t>
            </a:r>
            <a:r>
              <a:rPr sz="1500" b="0" i="0" dirty="0">
                <a:solidFill>
                  <a:srgbClr val="4B556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4B5563"/>
                </a:solidFill>
                <a:latin typeface="Calibri"/>
              </a:rPr>
              <a:t>i</a:t>
            </a:r>
            <a:r>
              <a:rPr sz="1500" b="0" i="0" dirty="0">
                <a:solidFill>
                  <a:srgbClr val="4B556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4B5563"/>
                </a:solidFill>
                <a:latin typeface="Calibri"/>
              </a:rPr>
              <a:t>za</a:t>
            </a:r>
            <a:r>
              <a:rPr lang="en-US" sz="1500" b="0" i="0" dirty="0" err="1">
                <a:solidFill>
                  <a:srgbClr val="4B5563"/>
                </a:solidFill>
                <a:latin typeface="Calibri"/>
              </a:rPr>
              <a:t>š</a:t>
            </a:r>
            <a:r>
              <a:rPr sz="1500" b="0" i="0" dirty="0" err="1">
                <a:solidFill>
                  <a:srgbClr val="4B5563"/>
                </a:solidFill>
                <a:latin typeface="Calibri"/>
              </a:rPr>
              <a:t>to</a:t>
            </a:r>
            <a:r>
              <a:rPr sz="1500" b="0" i="0" dirty="0">
                <a:solidFill>
                  <a:srgbClr val="4B5563"/>
                </a:solidFill>
                <a:latin typeface="Calibri"/>
              </a:rPr>
              <a:t> - od </a:t>
            </a:r>
            <a:r>
              <a:rPr sz="1500" b="0" i="0" dirty="0" err="1">
                <a:solidFill>
                  <a:srgbClr val="4B5563"/>
                </a:solidFill>
                <a:latin typeface="Calibri"/>
              </a:rPr>
              <a:t>ishoda</a:t>
            </a:r>
            <a:r>
              <a:rPr sz="1500" b="0" i="0" dirty="0">
                <a:solidFill>
                  <a:srgbClr val="4B556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4B5563"/>
                </a:solidFill>
                <a:latin typeface="Calibri"/>
              </a:rPr>
              <a:t>u</a:t>
            </a:r>
            <a:r>
              <a:rPr lang="en-US" sz="1500" b="0" i="0" dirty="0" err="1">
                <a:solidFill>
                  <a:srgbClr val="4B5563"/>
                </a:solidFill>
                <a:latin typeface="Calibri"/>
              </a:rPr>
              <a:t>č</a:t>
            </a:r>
            <a:r>
              <a:rPr sz="1500" b="0" i="0" dirty="0" err="1">
                <a:solidFill>
                  <a:srgbClr val="4B5563"/>
                </a:solidFill>
                <a:latin typeface="Calibri"/>
              </a:rPr>
              <a:t>enja</a:t>
            </a:r>
            <a:r>
              <a:rPr sz="1500" b="0" i="0" dirty="0">
                <a:solidFill>
                  <a:srgbClr val="4B5563"/>
                </a:solidFill>
                <a:latin typeface="Calibri"/>
              </a:rPr>
              <a:t> do ITS-a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1444752"/>
            <a:ext cx="1737360" cy="8577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700" b="1" i="0">
                <a:solidFill>
                  <a:srgbClr val="C25700"/>
                </a:solidFill>
                <a:latin typeface="Calibri"/>
              </a:rPr>
              <a:t>10 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12187"/>
            <a:ext cx="109728" cy="85770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412187"/>
            <a:ext cx="640080" cy="8577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1B365D"/>
                </a:solidFill>
                <a:latin typeface="Calibri"/>
              </a:rPr>
              <a:t>01.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457907"/>
            <a:ext cx="835121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LLM prompting i taksonomije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869387"/>
            <a:ext cx="8351215" cy="4005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Bloom, SOLO, PS4 prompting, hijerarhija zadataka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5695" y="2412187"/>
            <a:ext cx="1737360" cy="8577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700" b="1" i="0">
                <a:solidFill>
                  <a:srgbClr val="C25700"/>
                </a:solidFill>
                <a:latin typeface="Calibri"/>
              </a:rPr>
              <a:t>25 min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79622"/>
            <a:ext cx="109728" cy="85770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379622"/>
            <a:ext cx="640080" cy="8577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1B365D"/>
                </a:solidFill>
                <a:latin typeface="Calibri"/>
              </a:rPr>
              <a:t>02.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425342"/>
            <a:ext cx="835121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Ontologije i formalni grounding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836822"/>
            <a:ext cx="8351215" cy="4005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OWL, RDF, SPARQL i anti-halucinacioni mehanizmi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05695" y="3379622"/>
            <a:ext cx="1737360" cy="8577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700" b="1" i="0">
                <a:solidFill>
                  <a:srgbClr val="C25700"/>
                </a:solidFill>
                <a:latin typeface="Calibri"/>
              </a:rPr>
              <a:t>25 min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347057"/>
            <a:ext cx="109728" cy="85770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4347057"/>
            <a:ext cx="640080" cy="8577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1B365D"/>
                </a:solidFill>
                <a:latin typeface="Calibri"/>
              </a:rPr>
              <a:t>03.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392777"/>
            <a:ext cx="835121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Evaluacija i ogranicenja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804257"/>
            <a:ext cx="8351215" cy="4005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Kvalitet po nivoima, robustnost, human-in-the-loop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5695" y="4347057"/>
            <a:ext cx="1737360" cy="8577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700" b="1" i="0">
                <a:solidFill>
                  <a:srgbClr val="C25700"/>
                </a:solidFill>
                <a:latin typeface="Calibri"/>
              </a:rPr>
              <a:t>25 min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314492"/>
            <a:ext cx="109728" cy="85770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5314492"/>
            <a:ext cx="640080" cy="8577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1B365D"/>
                </a:solidFill>
                <a:latin typeface="Calibri"/>
              </a:rPr>
              <a:t>04.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5360212"/>
            <a:ext cx="835121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Sinteza, buduci rad, zakljucak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771692"/>
            <a:ext cx="8351215" cy="4005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Integrisana arhitektura i naredni koraci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05695" y="5314492"/>
            <a:ext cx="1737360" cy="8577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700" b="1" i="0">
                <a:solidFill>
                  <a:srgbClr val="C25700"/>
                </a:solidFill>
                <a:latin typeface="Calibri"/>
              </a:rPr>
              <a:t>10-15 min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219456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5C060"/>
                </a:solidFill>
                <a:latin typeface="Calibri"/>
              </a:rPr>
              <a:t>SEGMENT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Uvod i motivacija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160520"/>
            <a:ext cx="1371600" cy="40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4343400"/>
            <a:ext cx="1063721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 dirty="0" err="1">
                <a:solidFill>
                  <a:srgbClr val="D1D5DB"/>
                </a:solidFill>
                <a:latin typeface="Calibri"/>
              </a:rPr>
              <a:t>Polazimo</a:t>
            </a:r>
            <a:r>
              <a:rPr sz="1800" b="0" i="1" dirty="0">
                <a:solidFill>
                  <a:srgbClr val="D1D5DB"/>
                </a:solidFill>
                <a:latin typeface="Calibri"/>
              </a:rPr>
              <a:t> od </a:t>
            </a:r>
            <a:r>
              <a:rPr sz="1800" b="0" i="1" dirty="0" err="1">
                <a:solidFill>
                  <a:srgbClr val="D1D5DB"/>
                </a:solidFill>
                <a:latin typeface="Calibri"/>
              </a:rPr>
              <a:t>trenutnog</a:t>
            </a:r>
            <a:r>
              <a:rPr sz="1800" b="0" i="1" dirty="0">
                <a:solidFill>
                  <a:srgbClr val="D1D5DB"/>
                </a:solidFill>
                <a:latin typeface="Calibri"/>
              </a:rPr>
              <a:t> </a:t>
            </a:r>
            <a:r>
              <a:rPr sz="1800" b="0" i="1" dirty="0" err="1">
                <a:solidFill>
                  <a:srgbClr val="D1D5DB"/>
                </a:solidFill>
                <a:latin typeface="Calibri"/>
              </a:rPr>
              <a:t>stanja</a:t>
            </a:r>
            <a:r>
              <a:rPr sz="1800" b="0" i="1" dirty="0">
                <a:solidFill>
                  <a:srgbClr val="D1D5DB"/>
                </a:solidFill>
                <a:latin typeface="Calibri"/>
              </a:rPr>
              <a:t> - </a:t>
            </a:r>
            <a:r>
              <a:rPr lang="en-US" sz="1800" b="0" i="1" dirty="0" err="1">
                <a:solidFill>
                  <a:srgbClr val="D1D5DB"/>
                </a:solidFill>
                <a:latin typeface="Calibri"/>
              </a:rPr>
              <a:t>š</a:t>
            </a:r>
            <a:r>
              <a:rPr sz="1800" b="0" i="1" dirty="0" err="1">
                <a:solidFill>
                  <a:srgbClr val="D1D5DB"/>
                </a:solidFill>
                <a:latin typeface="Calibri"/>
              </a:rPr>
              <a:t>ta</a:t>
            </a:r>
            <a:r>
              <a:rPr sz="1800" b="0" i="1" dirty="0">
                <a:solidFill>
                  <a:srgbClr val="D1D5DB"/>
                </a:solidFill>
                <a:latin typeface="Calibri"/>
              </a:rPr>
              <a:t> </a:t>
            </a:r>
            <a:r>
              <a:rPr lang="en-US" sz="1800" b="0" i="1" dirty="0" err="1">
                <a:solidFill>
                  <a:srgbClr val="D1D5DB"/>
                </a:solidFill>
                <a:latin typeface="Calibri"/>
              </a:rPr>
              <a:t>profesor</a:t>
            </a:r>
            <a:r>
              <a:rPr sz="1800" b="0" i="1" dirty="0">
                <a:solidFill>
                  <a:srgbClr val="D1D5DB"/>
                </a:solidFill>
                <a:latin typeface="Calibri"/>
              </a:rPr>
              <a:t> </a:t>
            </a:r>
            <a:r>
              <a:rPr sz="1800" b="0" i="1" dirty="0" err="1">
                <a:solidFill>
                  <a:srgbClr val="D1D5DB"/>
                </a:solidFill>
                <a:latin typeface="Calibri"/>
              </a:rPr>
              <a:t>radi</a:t>
            </a:r>
            <a:r>
              <a:rPr sz="1800" b="0" i="1" dirty="0">
                <a:solidFill>
                  <a:srgbClr val="D1D5DB"/>
                </a:solidFill>
                <a:latin typeface="Calibri"/>
              </a:rPr>
              <a:t> </a:t>
            </a:r>
            <a:r>
              <a:rPr sz="1800" b="0" i="1" dirty="0" err="1">
                <a:solidFill>
                  <a:srgbClr val="D1D5DB"/>
                </a:solidFill>
                <a:latin typeface="Calibri"/>
              </a:rPr>
              <a:t>i</a:t>
            </a:r>
            <a:r>
              <a:rPr sz="1800" b="0" i="1" dirty="0">
                <a:solidFill>
                  <a:srgbClr val="D1D5DB"/>
                </a:solidFill>
                <a:latin typeface="Calibri"/>
              </a:rPr>
              <a:t> </a:t>
            </a:r>
            <a:r>
              <a:rPr sz="1800" b="0" i="1" dirty="0" err="1">
                <a:solidFill>
                  <a:srgbClr val="D1D5DB"/>
                </a:solidFill>
                <a:latin typeface="Calibri"/>
              </a:rPr>
              <a:t>za</a:t>
            </a:r>
            <a:r>
              <a:rPr lang="en-US" sz="1800" b="0" i="1" dirty="0" err="1">
                <a:solidFill>
                  <a:srgbClr val="D1D5DB"/>
                </a:solidFill>
                <a:latin typeface="Calibri"/>
              </a:rPr>
              <a:t>š</a:t>
            </a:r>
            <a:r>
              <a:rPr sz="1800" b="0" i="1" dirty="0" err="1">
                <a:solidFill>
                  <a:srgbClr val="D1D5DB"/>
                </a:solidFill>
                <a:latin typeface="Calibri"/>
              </a:rPr>
              <a:t>to</a:t>
            </a:r>
            <a:r>
              <a:rPr sz="1800" b="0" i="1" dirty="0">
                <a:solidFill>
                  <a:srgbClr val="D1D5DB"/>
                </a:solidFill>
                <a:latin typeface="Calibri"/>
              </a:rPr>
              <a:t> je to </a:t>
            </a:r>
            <a:r>
              <a:rPr lang="en-US" sz="1800" b="0" i="1" dirty="0">
                <a:solidFill>
                  <a:srgbClr val="D1D5DB"/>
                </a:solidFill>
                <a:latin typeface="Calibri"/>
              </a:rPr>
              <a:t>problem</a:t>
            </a:r>
            <a:r>
              <a:rPr sz="1800" b="0" i="1" dirty="0">
                <a:solidFill>
                  <a:srgbClr val="D1D5D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C4C9D4"/>
                </a:solidFill>
                <a:latin typeface="Calibri"/>
              </a:rPr>
              <a:t>10 min  /  4 slajda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0 - UVOD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Problem - sta nastavnik radi rucno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Vreme i kognitivni napor su jaka skala bola.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3515258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73152" cy="192024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627632"/>
            <a:ext cx="305805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C25700"/>
                </a:solidFill>
                <a:latin typeface="Calibri"/>
              </a:rPr>
              <a:t>~20%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305805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radnog vremena nastavnika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24912"/>
            <a:ext cx="305805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trosi se na pripremu i administraciju (OECD TALIS 2018, prosek)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8218" y="1444752"/>
            <a:ext cx="3515258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8218" y="1444752"/>
            <a:ext cx="73152" cy="192024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2538" y="1627632"/>
            <a:ext cx="305805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C25700"/>
                </a:solidFill>
                <a:latin typeface="Calibri"/>
              </a:rPr>
              <a:t>7-12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2538" y="2404872"/>
            <a:ext cx="305805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nedeljno na pripremu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2538" y="2724912"/>
            <a:ext cx="305805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van casa, samo na materijale (NCES 2019 Teacher Time Study)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7796" y="1444752"/>
            <a:ext cx="3515258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27796" y="1444752"/>
            <a:ext cx="73152" cy="192024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02116" y="1627632"/>
            <a:ext cx="305805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>
                <a:solidFill>
                  <a:srgbClr val="C25700"/>
                </a:solidFill>
                <a:latin typeface="Calibri"/>
              </a:rPr>
              <a:t>22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2116" y="2404872"/>
            <a:ext cx="305805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po jednom MCQ pitanju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2116" y="2724912"/>
            <a:ext cx="305805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sa distraktorima i mapiranjem na ishod (Walker et al., 2020)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730752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Sta nastavnik radi rucno?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142232"/>
            <a:ext cx="11094415" cy="14377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 dirty="0">
                <a:solidFill>
                  <a:srgbClr val="1F2937"/>
                </a:solidFill>
                <a:latin typeface="Calibri"/>
              </a:rPr>
              <a:t>• 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Planira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strukturu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kursa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- module,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koncepte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,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ishode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ucenja</a:t>
            </a:r>
            <a:endParaRPr sz="1700" b="0" i="0" dirty="0">
              <a:solidFill>
                <a:srgbClr val="1F2937"/>
              </a:solidFill>
              <a:latin typeface="Calibri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 dirty="0">
                <a:solidFill>
                  <a:srgbClr val="1F2937"/>
                </a:solidFill>
                <a:latin typeface="Calibri"/>
              </a:rPr>
              <a:t>• 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Pise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objasnjenja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,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primere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,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definicije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-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usaglasava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ih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sa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nivoom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studenata</a:t>
            </a:r>
            <a:endParaRPr sz="1700" b="0" i="0" dirty="0">
              <a:solidFill>
                <a:srgbClr val="1F2937"/>
              </a:solidFill>
              <a:latin typeface="Calibri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 dirty="0">
                <a:solidFill>
                  <a:srgbClr val="1F2937"/>
                </a:solidFill>
                <a:latin typeface="Calibri"/>
              </a:rPr>
              <a:t>• 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Priprema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praktiche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demonstracije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,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cesto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u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formi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video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tutorijala</a:t>
            </a:r>
            <a:endParaRPr sz="1700" b="0" i="0" dirty="0">
              <a:solidFill>
                <a:srgbClr val="1F2937"/>
              </a:solidFill>
              <a:latin typeface="Calibri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 dirty="0">
                <a:solidFill>
                  <a:srgbClr val="1F2937"/>
                </a:solidFill>
                <a:latin typeface="Calibri"/>
              </a:rPr>
              <a:t>• 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Sastavlja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pitanja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na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razlicitim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kognitivnim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nivoima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-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i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tu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nastaj</a:t>
            </a:r>
            <a:r>
              <a:rPr lang="en-US" sz="1700" b="0" i="0" dirty="0" err="1">
                <a:solidFill>
                  <a:srgbClr val="1F2937"/>
                </a:solidFill>
                <a:latin typeface="Calibri"/>
              </a:rPr>
              <a:t>u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uska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grla</a:t>
            </a:r>
            <a:endParaRPr sz="1700" b="0" i="0" dirty="0">
              <a:solidFill>
                <a:srgbClr val="1F2937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0 - UVOD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LLM otvara vrata, ali ne sam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1" y="1366191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 dirty="0">
                <a:solidFill>
                  <a:srgbClr val="4B5563"/>
                </a:solidFill>
                <a:latin typeface="Calibri"/>
              </a:rPr>
              <a:t>Sta </a:t>
            </a:r>
            <a:r>
              <a:rPr sz="1800" b="0" i="1" dirty="0" err="1">
                <a:solidFill>
                  <a:srgbClr val="4B5563"/>
                </a:solidFill>
                <a:latin typeface="Calibri"/>
              </a:rPr>
              <a:t>dobijemo</a:t>
            </a:r>
            <a:r>
              <a:rPr sz="1800" b="0" i="1" dirty="0">
                <a:solidFill>
                  <a:srgbClr val="4B5563"/>
                </a:solidFill>
                <a:latin typeface="Calibri"/>
              </a:rPr>
              <a:t> - </a:t>
            </a:r>
            <a:r>
              <a:rPr sz="1800" b="0" i="1" dirty="0" err="1">
                <a:solidFill>
                  <a:srgbClr val="4B5563"/>
                </a:solidFill>
                <a:latin typeface="Calibri"/>
              </a:rPr>
              <a:t>i</a:t>
            </a:r>
            <a:r>
              <a:rPr sz="1800" b="0" i="1" dirty="0">
                <a:solidFill>
                  <a:srgbClr val="4B5563"/>
                </a:solidFill>
                <a:latin typeface="Calibri"/>
              </a:rPr>
              <a:t> </a:t>
            </a:r>
            <a:r>
              <a:rPr sz="1800" b="0" i="1" dirty="0" err="1">
                <a:solidFill>
                  <a:srgbClr val="4B5563"/>
                </a:solidFill>
                <a:latin typeface="Calibri"/>
              </a:rPr>
              <a:t>sta</a:t>
            </a:r>
            <a:r>
              <a:rPr sz="1800" b="0" i="1" dirty="0">
                <a:solidFill>
                  <a:srgbClr val="4B5563"/>
                </a:solidFill>
                <a:latin typeface="Calibri"/>
              </a:rPr>
              <a:t> </a:t>
            </a:r>
            <a:r>
              <a:rPr sz="1800" b="0" i="1" dirty="0" err="1">
                <a:solidFill>
                  <a:srgbClr val="4B5563"/>
                </a:solidFill>
                <a:latin typeface="Calibri"/>
              </a:rPr>
              <a:t>sve</a:t>
            </a:r>
            <a:r>
              <a:rPr sz="1800" b="0" i="1" dirty="0">
                <a:solidFill>
                  <a:srgbClr val="4B5563"/>
                </a:solidFill>
                <a:latin typeface="Calibri"/>
              </a:rPr>
              <a:t> </a:t>
            </a:r>
            <a:r>
              <a:rPr sz="1800" b="0" i="1" dirty="0" err="1">
                <a:solidFill>
                  <a:srgbClr val="4B5563"/>
                </a:solidFill>
                <a:latin typeface="Calibri"/>
              </a:rPr>
              <a:t>uneso</a:t>
            </a:r>
            <a:r>
              <a:rPr sz="1800" b="0" i="1" dirty="0">
                <a:solidFill>
                  <a:srgbClr val="4B5563"/>
                </a:solidFill>
                <a:latin typeface="Calibri"/>
              </a:rPr>
              <a:t> </a:t>
            </a:r>
            <a:r>
              <a:rPr sz="1800" b="0" i="1" dirty="0" err="1">
                <a:solidFill>
                  <a:srgbClr val="4B5563"/>
                </a:solidFill>
                <a:latin typeface="Calibri"/>
              </a:rPr>
              <a:t>skripa</a:t>
            </a:r>
            <a:r>
              <a:rPr sz="1800" b="0" i="1" dirty="0">
                <a:solidFill>
                  <a:srgbClr val="4B5563"/>
                </a:solidFill>
                <a:latin typeface="Calibri"/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1" y="1938528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LLM je otvorio vrata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1" y="2350008"/>
            <a:ext cx="5364327" cy="4270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 dirty="0">
                <a:solidFill>
                  <a:srgbClr val="1F2937"/>
                </a:solidFill>
                <a:latin typeface="Calibri"/>
              </a:rPr>
              <a:t>• 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Generisanje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sadrzaja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iz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prirodno-jezickog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uputstva</a:t>
            </a:r>
            <a:endParaRPr sz="1700" b="0" i="0" dirty="0">
              <a:solidFill>
                <a:srgbClr val="1F2937"/>
              </a:solidFill>
              <a:latin typeface="Calibri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 dirty="0">
                <a:solidFill>
                  <a:srgbClr val="1F2937"/>
                </a:solidFill>
                <a:latin typeface="Calibri"/>
              </a:rPr>
              <a:t>• 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Razlaganje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kompleksnih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zadataka</a:t>
            </a:r>
            <a:endParaRPr sz="1700" b="0" i="0" dirty="0">
              <a:solidFill>
                <a:srgbClr val="1F2937"/>
              </a:solidFill>
              <a:latin typeface="Calibri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 dirty="0">
                <a:solidFill>
                  <a:srgbClr val="1F2937"/>
                </a:solidFill>
                <a:latin typeface="Calibri"/>
              </a:rPr>
              <a:t>• 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Brza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iteracija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i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prilagodjavanje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materijala</a:t>
            </a:r>
            <a:endParaRPr sz="1700" b="0" i="0" dirty="0">
              <a:solidFill>
                <a:srgbClr val="1F2937"/>
              </a:solidFill>
              <a:latin typeface="Calibri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 dirty="0">
                <a:solidFill>
                  <a:srgbClr val="1F2937"/>
                </a:solidFill>
                <a:latin typeface="Calibri"/>
              </a:rPr>
              <a:t>• 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Multimodalnost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: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tekst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,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kod</a:t>
            </a:r>
            <a:r>
              <a:rPr sz="1700" b="0" i="0" dirty="0">
                <a:solidFill>
                  <a:srgbClr val="1F2937"/>
                </a:solidFill>
                <a:latin typeface="Calibri"/>
              </a:rPr>
              <a:t>, </a:t>
            </a:r>
            <a:r>
              <a:rPr sz="1700" b="0" i="0" dirty="0" err="1">
                <a:solidFill>
                  <a:srgbClr val="1F2937"/>
                </a:solidFill>
                <a:latin typeface="Calibri"/>
              </a:rPr>
              <a:t>vizija</a:t>
            </a:r>
            <a:endParaRPr sz="1700" b="0" i="0" dirty="0">
              <a:solidFill>
                <a:srgbClr val="1F2937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278728" y="1938528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C25700"/>
                </a:solidFill>
                <a:latin typeface="Calibri"/>
              </a:rPr>
              <a:t>...ali otvorio i nove probleme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8" y="2350008"/>
            <a:ext cx="5364327" cy="4270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Halucinacije - izmisljene cinjenice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Genericnost izlaza, malo veze sa konkretnim materijalom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Pitanja na pogresnom kognitivnom nivou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Nedostatak formalne strukture i ponovljivosti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Tesko proveriti gde se sta oslonilo na izvor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7 / 62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0 - ZASTO SAD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Zasto bas sad? - tri empirijska signala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Od Bloomovog '2 Sigma' problema do mainstream LLM tutora.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3515258" cy="436168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351525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305805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BLOOM (1984)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39112"/>
            <a:ext cx="305805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'2 Sigma Problem'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679192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862072"/>
            <a:ext cx="3058058" cy="2944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1-na-1 tutoring podize prosecnog studenta na ~98. percentil. ITS poslednjih 40 godina pokusava da se priblizi ovom efektu.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1444752"/>
            <a:ext cx="3515258" cy="436168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38218" y="1444752"/>
            <a:ext cx="351525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66818" y="1719072"/>
            <a:ext cx="305805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KHAN ACADEMY (2023+)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6818" y="2039112"/>
            <a:ext cx="305805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Khanmigo u skolama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66818" y="2679192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66818" y="2862072"/>
            <a:ext cx="3058058" cy="2944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Prvi mainstream LLM tutor u nastavi. Vec u 100+ skolskih distrikta u SAD. AI tutori vise nisu istrazivanje - produkcija su.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27796" y="1444752"/>
            <a:ext cx="3515258" cy="436168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27796" y="1444752"/>
            <a:ext cx="351525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56396" y="1719072"/>
            <a:ext cx="305805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KESTIN ET AL. (HARVARD, 2024)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6396" y="2039112"/>
            <a:ext cx="305805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AI tutor &gt; active learning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56396" y="2679192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56396" y="2862072"/>
            <a:ext cx="3058058" cy="2944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U kontrolisanoj studiji iz fizike, GPT-4 tutor je nadmasio aktivno-ucenicku nastavu, i to za pola vremena. Empirijski signal da je tehnologija sazrela.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1">
                <a:solidFill>
                  <a:srgbClr val="4B5563"/>
                </a:solidFill>
                <a:latin typeface="Calibri"/>
              </a:rPr>
              <a:t>Pitanje vise nije 'da li LLM moze nešto' - pitanje je 'kako ga koristimo dobro'.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8 / 62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0 -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ITS landscape - gde se mi uklapamo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Postojeci sistemi serviraju materijal; mi automatizujemo njegovo generisanje.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ITS landscape - gde se mi uklapamo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01952"/>
            <a:ext cx="11094415" cy="780897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901952"/>
            <a:ext cx="109728" cy="780897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901952"/>
            <a:ext cx="3383280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Carnegie Learning / ALEKS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79" y="1901952"/>
            <a:ext cx="2377440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1">
                <a:solidFill>
                  <a:srgbClr val="4B5563"/>
                </a:solidFill>
                <a:latin typeface="Calibri"/>
              </a:rPr>
              <a:t>Klasicni cognitive tutor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901952"/>
            <a:ext cx="4693615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~30 godina, rule-based, jaka pedagoska teorija (ACT-R), bez LLM-a.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74289"/>
            <a:ext cx="11094415" cy="780897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" y="2774289"/>
            <a:ext cx="109728" cy="780897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2774289"/>
            <a:ext cx="3383280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Khan Academy Khanmigo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79" y="2774289"/>
            <a:ext cx="2377440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1">
                <a:solidFill>
                  <a:srgbClr val="1B365D"/>
                </a:solidFill>
                <a:latin typeface="Calibri"/>
              </a:rPr>
              <a:t>LLM-driven, 2023+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774289"/>
            <a:ext cx="4693615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GPT-4 zasnovan tutor; cuvar konteksta + nastavnicki dashboard.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646627"/>
            <a:ext cx="11094415" cy="780897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646627"/>
            <a:ext cx="109728" cy="780897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3646627"/>
            <a:ext cx="3383280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Duolingo Max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79" y="3646627"/>
            <a:ext cx="2377440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1">
                <a:solidFill>
                  <a:srgbClr val="1B365D"/>
                </a:solidFill>
                <a:latin typeface="Calibri"/>
              </a:rPr>
              <a:t>LLM-driven jezici, 2023+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646627"/>
            <a:ext cx="4693615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'Role play' i 'Explain my answer' funkcije; placeno premium tier.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518964"/>
            <a:ext cx="11094415" cy="780897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4518964"/>
            <a:ext cx="109728" cy="780897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4518964"/>
            <a:ext cx="3383280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Vesin et al. - ProTuS (FTN/UNS)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79" y="4518964"/>
            <a:ext cx="2377440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1">
                <a:solidFill>
                  <a:srgbClr val="1B365D"/>
                </a:solidFill>
                <a:latin typeface="Calibri"/>
              </a:rPr>
              <a:t>Ontology-based Java tutor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518964"/>
            <a:ext cx="4693615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Domaci rad iz naseg fakulteta; ontologija + adaptivne preporuke.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391302"/>
            <a:ext cx="11094415" cy="780897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48640" y="5391302"/>
            <a:ext cx="109728" cy="78089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960" y="5391302"/>
            <a:ext cx="3383280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Nas predlog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79" y="5391302"/>
            <a:ext cx="2377440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1">
                <a:solidFill>
                  <a:srgbClr val="C25700"/>
                </a:solidFill>
                <a:latin typeface="Calibri"/>
              </a:rPr>
              <a:t>LLM + Ontologija + Taksonomija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5391302"/>
            <a:ext cx="4693615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Generisanje materijala (struktura + pitanja + video), ne samo serviranje.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9 / 62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0 - VIZIJA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Vizija - ITS pipeline od ishoda do video tutorijala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5 koraka, end-to-end, bez rucne intervencije izmedju.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627632"/>
            <a:ext cx="2087209" cy="219456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2087209" cy="914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810512"/>
            <a:ext cx="208720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>
                <a:solidFill>
                  <a:srgbClr val="C25700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67712"/>
            <a:ext cx="208720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1B365D"/>
                </a:solidFill>
                <a:latin typeface="Calibri"/>
              </a:rPr>
              <a:t>Ulaz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24912"/>
            <a:ext cx="190432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Ishodi ucenja
PDF materijal
NL instrukcije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654137" y="2633472"/>
            <a:ext cx="128016" cy="182880"/>
          </a:xfrm>
          <a:prstGeom prst="rightArrow">
            <a:avLst/>
          </a:prstGeom>
          <a:solidFill>
            <a:srgbClr val="C25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00441" y="1627632"/>
            <a:ext cx="2087209" cy="219456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800441" y="1627632"/>
            <a:ext cx="2087209" cy="914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800441" y="1810512"/>
            <a:ext cx="208720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>
                <a:solidFill>
                  <a:srgbClr val="C25700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0441" y="2267712"/>
            <a:ext cx="208720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1B365D"/>
                </a:solidFill>
                <a:latin typeface="Calibri"/>
              </a:rPr>
              <a:t>Struktura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1881" y="2724912"/>
            <a:ext cx="190432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Bloom-driven
moduli i ishodi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905938" y="2633472"/>
            <a:ext cx="128016" cy="182880"/>
          </a:xfrm>
          <a:prstGeom prst="rightArrow">
            <a:avLst/>
          </a:prstGeom>
          <a:solidFill>
            <a:srgbClr val="C25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52242" y="1627632"/>
            <a:ext cx="2087209" cy="219456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52242" y="1627632"/>
            <a:ext cx="2087209" cy="914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52242" y="1810512"/>
            <a:ext cx="208720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>
                <a:solidFill>
                  <a:srgbClr val="C25700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2242" y="2267712"/>
            <a:ext cx="208720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1B365D"/>
                </a:solidFill>
                <a:latin typeface="Calibri"/>
              </a:rPr>
              <a:t>Ontologija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3682" y="2724912"/>
            <a:ext cx="190432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OWL/RDF
konceptualne relacije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157740" y="2633472"/>
            <a:ext cx="128016" cy="182880"/>
          </a:xfrm>
          <a:prstGeom prst="rightArrow">
            <a:avLst/>
          </a:prstGeom>
          <a:solidFill>
            <a:srgbClr val="C25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304044" y="1627632"/>
            <a:ext cx="2087209" cy="219456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304044" y="1627632"/>
            <a:ext cx="2087209" cy="914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04044" y="1810512"/>
            <a:ext cx="208720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>
                <a:solidFill>
                  <a:srgbClr val="C25700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4044" y="2267712"/>
            <a:ext cx="208720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1B365D"/>
                </a:solidFill>
                <a:latin typeface="Calibri"/>
              </a:rPr>
              <a:t>Generisanje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95484" y="2724912"/>
            <a:ext cx="190432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SOLO pitanja
video demoi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9541" y="2633472"/>
            <a:ext cx="128016" cy="182880"/>
          </a:xfrm>
          <a:prstGeom prst="rightArrow">
            <a:avLst/>
          </a:prstGeom>
          <a:solidFill>
            <a:srgbClr val="C25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555845" y="1627632"/>
            <a:ext cx="2087209" cy="219456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555845" y="1627632"/>
            <a:ext cx="2087209" cy="914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555845" y="1810512"/>
            <a:ext cx="208720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>
                <a:solidFill>
                  <a:srgbClr val="C25700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55845" y="2267712"/>
            <a:ext cx="208720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1B365D"/>
                </a:solidFill>
                <a:latin typeface="Calibri"/>
              </a:rPr>
              <a:t>Izlaz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7285" y="2724912"/>
            <a:ext cx="190432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Strukturisan
ITS pipeline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96512"/>
            <a:ext cx="11094415" cy="19842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48640" y="4096512"/>
            <a:ext cx="73152" cy="198424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22960" y="4233672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C25700"/>
                </a:solidFill>
                <a:latin typeface="Calibri"/>
              </a:rPr>
              <a:t>Vizija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4553712"/>
            <a:ext cx="1063721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1F2937"/>
                </a:solidFill>
                <a:latin typeface="Calibri"/>
              </a:rPr>
              <a:t>Od ishoda ucenja, automatski, do snimljene video demonstracije i SOLO kviza - bez rucne intervencije.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10 / 62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0 - KOMPONENTE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Tri komponente jednog pipeline-a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Svaki clan tima radi jedan deo - zajedno cine celinu.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3545738" cy="4636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354573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73352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LUKA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317997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Struktura kursa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4B5563"/>
                </a:solidFill>
                <a:latin typeface="Calibri"/>
              </a:rPr>
              <a:t>Bloomova taksonomija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788920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953512"/>
            <a:ext cx="3179978" cy="2944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Hijerarhija: kurs -&gt; modul -&gt; koncept -&gt; ishod -&gt; aktivnost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JSON serijalizacija sa rekurzivnom strukturom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Bloomovi nivoi mapirani na tipove aktivnosti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State-of-generation kontekst za koherentnost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2978" y="1444752"/>
            <a:ext cx="3545738" cy="4636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22978" y="1444752"/>
            <a:ext cx="354573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05858" y="1673352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STEFAN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5858" y="1965960"/>
            <a:ext cx="317997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Video demonstracije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5858" y="2423160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4B5563"/>
                </a:solidFill>
                <a:latin typeface="Calibri"/>
              </a:rPr>
              <a:t>OWL ontologija + Computer Use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05858" y="2788920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05858" y="2953512"/>
            <a:ext cx="3179978" cy="2944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NL instrukcija -&gt; Task / Step / Action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OWL validacija plana pre izvrsenja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SPARQL upiti vode izvrsavanje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Vision (Qwen 2.5 VL) za UI detekciju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FFmpeg snima MP4 tutorijal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1444752"/>
            <a:ext cx="3545738" cy="4636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97316" y="1444752"/>
            <a:ext cx="354573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80196" y="1673352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UROS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0196" y="1965960"/>
            <a:ext cx="317997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SOLO pitanja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0196" y="2423160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4B5563"/>
                </a:solidFill>
                <a:latin typeface="Calibri"/>
              </a:rPr>
              <a:t>Ontology-grounded MCQ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80196" y="2788920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80196" y="2953512"/>
            <a:ext cx="3179978" cy="2944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4 SOLO nivoa: U / M / R / EA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PS4 prompt template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source_line citat iz PDF-a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Ontology anchor iz ConceptRelationship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Two-pass generisanje za EA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11 / 62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0 - KLJUCNA PORUKA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Kljucna poruka prezentacije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901952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C25700"/>
                </a:solidFill>
                <a:latin typeface="Calibri"/>
              </a:rPr>
              <a:t>Kljucna poruka prezentacije</a:t>
            </a:r>
          </a:p>
        </p:txBody>
      </p:sp>
      <p:sp>
        <p:nvSpPr>
          <p:cNvPr id="6" name="Rectangle 5"/>
          <p:cNvSpPr/>
          <p:nvPr/>
        </p:nvSpPr>
        <p:spPr>
          <a:xfrm>
            <a:off x="1380721" y="2542032"/>
            <a:ext cx="9430252" cy="201168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380721" y="2542032"/>
            <a:ext cx="9430252" cy="300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80721" y="2907792"/>
            <a:ext cx="943025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200" b="1" i="0">
                <a:solidFill>
                  <a:srgbClr val="1B365D"/>
                </a:solidFill>
                <a:latin typeface="Calibri"/>
              </a:rPr>
              <a:t>LLM  +  ontologija  +  pedagoska taksonomija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21" y="3547872"/>
            <a:ext cx="94302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C25700"/>
                </a:solidFill>
                <a:latin typeface="Calibri"/>
              </a:rPr>
              <a:t>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0721" y="3959352"/>
            <a:ext cx="94302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0" i="1">
                <a:solidFill>
                  <a:srgbClr val="1F2937"/>
                </a:solidFill>
                <a:latin typeface="Calibri"/>
              </a:rPr>
              <a:t>pouzdano, pedagoski kalibrisano ITS okruzenje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82312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1">
                <a:solidFill>
                  <a:srgbClr val="4B5563"/>
                </a:solidFill>
                <a:latin typeface="Calibri"/>
              </a:rPr>
              <a:t>vise od zbira svojih delova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12 / 62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219456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5C060"/>
                </a:solidFill>
                <a:latin typeface="Calibri"/>
              </a:rPr>
              <a:t>SEGMENT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LLM prompting i pedagoske taksonomije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160520"/>
            <a:ext cx="1371600" cy="40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4343400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D1D5DB"/>
                </a:solidFill>
                <a:latin typeface="Calibri"/>
              </a:rPr>
              <a:t>Hijerarhijska dekompozicija + formalna taksonomija u promptu = pedagoski kalibrisan LLM.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C4C9D4"/>
                </a:solidFill>
                <a:latin typeface="Calibri"/>
              </a:rPr>
              <a:t>25 min  /  11 slajdova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BLOOM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Bloomova taksonomija - 6 nivoa misaonih operacija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Glagol akcije: pamtiti, razumeti, primeniti, analizirati, evaluirati, kreirati.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6101928" cy="72694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502920" cy="72694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444752"/>
            <a:ext cx="502920" cy="7269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L1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44752"/>
            <a:ext cx="537040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Pamtiti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719072"/>
            <a:ext cx="5370408" cy="4526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Cinjenice, definicije, terminologija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44852"/>
            <a:ext cx="6101928" cy="72694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244852"/>
            <a:ext cx="502920" cy="72694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244852"/>
            <a:ext cx="502920" cy="7269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244852"/>
            <a:ext cx="537040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Razumeti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519172"/>
            <a:ext cx="5370408" cy="4526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Objasnjenje, parafraziranje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44952"/>
            <a:ext cx="6101928" cy="72694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3044952"/>
            <a:ext cx="502920" cy="72694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3044952"/>
            <a:ext cx="502920" cy="7269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L3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044952"/>
            <a:ext cx="537040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Primeniti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319272"/>
            <a:ext cx="5370408" cy="4526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Resavanje analognih problema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845052"/>
            <a:ext cx="6101928" cy="72694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3845052"/>
            <a:ext cx="502920" cy="72694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3845052"/>
            <a:ext cx="502920" cy="7269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L4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3845052"/>
            <a:ext cx="537040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Analizirati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119372"/>
            <a:ext cx="5370408" cy="4526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Razlaganje, poredjenje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645152"/>
            <a:ext cx="6101928" cy="72694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4645152"/>
            <a:ext cx="502920" cy="72694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4645152"/>
            <a:ext cx="502920" cy="7269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L5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645152"/>
            <a:ext cx="537040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Evaluirati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919472"/>
            <a:ext cx="5370408" cy="4526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Procena, kriticko misljenje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445252"/>
            <a:ext cx="6101928" cy="72694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48640" y="5445252"/>
            <a:ext cx="502920" cy="72694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8640" y="5445252"/>
            <a:ext cx="502920" cy="7269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L6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5445252"/>
            <a:ext cx="537040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Kreirati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5719572"/>
            <a:ext cx="5370408" cy="4526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Sinteza, novi rad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24888" y="1444752"/>
            <a:ext cx="4718166" cy="4727448"/>
          </a:xfrm>
          <a:prstGeom prst="rect">
            <a:avLst/>
          </a:prstGeom>
          <a:solidFill>
            <a:srgbClr val="EEEF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924888" y="3442716"/>
            <a:ext cx="4718166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2000" b="1" i="0">
                <a:solidFill>
                  <a:srgbClr val="4B5563"/>
                </a:solidFill>
                <a:latin typeface="Calibri"/>
              </a:rPr>
              <a:t>[ Slika 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24888" y="3854196"/>
            <a:ext cx="471816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4B5563"/>
                </a:solidFill>
                <a:latin typeface="Calibri"/>
              </a:rPr>
              <a:t>Bloomova piramida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14 / 62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SOLO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SOLO taksonomija - strukturalna slozenost odgovora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Od jedne cinjenice do generalizacije i transfera znanja.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6101928" cy="109956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91440" cy="109956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536192"/>
            <a:ext cx="57361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Unistructural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5736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C25700"/>
                </a:solidFill>
                <a:latin typeface="Calibri"/>
              </a:rPr>
              <a:t>Jedna izolovana cinjenica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5736168" cy="4137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Setiti se jednog elementa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54046"/>
            <a:ext cx="6101928" cy="109956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654046"/>
            <a:ext cx="91440" cy="109956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745486"/>
            <a:ext cx="57361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Multistructural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38094"/>
            <a:ext cx="5736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C25700"/>
                </a:solidFill>
                <a:latin typeface="Calibri"/>
              </a:rPr>
              <a:t>Vise nepovezanih cinjenica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12414"/>
            <a:ext cx="5736168" cy="4137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Prepoznati skup elemenata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863340"/>
            <a:ext cx="6101928" cy="109956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3863340"/>
            <a:ext cx="91440" cy="109956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3954780"/>
            <a:ext cx="57361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Relational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247388"/>
            <a:ext cx="5736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C25700"/>
                </a:solidFill>
                <a:latin typeface="Calibri"/>
              </a:rPr>
              <a:t>Veza izmedju koncepata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521708"/>
            <a:ext cx="5736168" cy="4137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Razumeti strukturu i odnose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072634"/>
            <a:ext cx="6101928" cy="109956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5072634"/>
            <a:ext cx="91440" cy="109956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5164074"/>
            <a:ext cx="57361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Extended Abstract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456682"/>
            <a:ext cx="5736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C25700"/>
                </a:solidFill>
                <a:latin typeface="Calibri"/>
              </a:rPr>
              <a:t>Generalizacija i transfer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731002"/>
            <a:ext cx="5736168" cy="4137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Primeniti na novi kontekst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24888" y="1444752"/>
            <a:ext cx="4718166" cy="4270248"/>
          </a:xfrm>
          <a:prstGeom prst="rect">
            <a:avLst/>
          </a:prstGeom>
          <a:solidFill>
            <a:srgbClr val="EEEF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924888" y="3214116"/>
            <a:ext cx="4718166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2000" b="1" i="0">
                <a:solidFill>
                  <a:srgbClr val="4B5563"/>
                </a:solidFill>
                <a:latin typeface="Calibri"/>
              </a:rPr>
              <a:t>[ Slika 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24888" y="3625596"/>
            <a:ext cx="471816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4B5563"/>
                </a:solidFill>
                <a:latin typeface="Calibri"/>
              </a:rPr>
              <a:t>SOLO taksonomija - vizuelni prikaz (Biggs &amp; Tang)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4888" y="5760720"/>
            <a:ext cx="471816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Biggs &amp; Collis (1982). Lister et al. (2006) - empirijski pokazali da pocetnici programiranja ozbiljno zaostaju na Relational i Extended Abstract zadacima.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15 / 62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POREDJENJE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Bloom vs SOLO - razliciti pogledi, komplementarni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44752"/>
          <a:ext cx="11094415" cy="3447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77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377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2469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Aspekt</a:t>
                      </a:r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Bloom (revidirana)</a:t>
                      </a:r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SOLO</a:t>
                      </a:r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469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Tip hijerarhije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Tipovi misaonih operacija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Strukturalna slozenost odgovora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469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Broj nivoa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6 nivoa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5 nivoa (ukljucujuci prestructural)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469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Osnovna jedinica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Glagol akcije (znati, primeniti, ...)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Broj i organizacija elemenata u odgovoru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469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Tipicna upotreba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Planiranje aktivnosti i ishoda ucenja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Evaluacija dubine ucenja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469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Mi koristimo 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Strukturu kursa (Luka)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Generisanje pitanja (Uros)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47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Glavna prednost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Direktna veza sa nastavnim aktivnostima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Direktna veza sa kognitivnom dubinom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5074920"/>
            <a:ext cx="11094415" cy="9144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5074920"/>
            <a:ext cx="73152" cy="9144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5166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Zasto obe?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Bloom upravlja STA generisemo (tipovi aktivnosti), SOLO upravlja KOLIKO DUBOKO se proverava (kognitivni nivoi pitanja).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16 / 62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LUKA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Luka - hijerarhijska struktura kursa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LLM razlaze kurs u stablo modula, koncepata, ishoda i aktivnosti.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Hijerarhijska dekompozicija kursa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ULAZ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Tema kursa i opsti opis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Lista ciljeva (ishoda ucenja)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LLM PROLAZ PO NIVOU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Generise module iz teme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Generise koncepte iz modula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Generise ishode iz koncepata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Generise aktivnosti iz ishoda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BLOOMOVO MAPIRANJE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Svaka aktivnost dobija Bloomov nivo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Aktivnosti se biraju kako bi pokrile sve nivoe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719072"/>
            <a:ext cx="499856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78727" y="1719072"/>
            <a:ext cx="91440" cy="4572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61607" y="1719072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Kurs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44487" y="2286000"/>
            <a:ext cx="463280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644487" y="2286000"/>
            <a:ext cx="91440" cy="4572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27367" y="2286000"/>
            <a:ext cx="435848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Modul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10247" y="2852928"/>
            <a:ext cx="426704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010247" y="2852928"/>
            <a:ext cx="91440" cy="4572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93127" y="2852928"/>
            <a:ext cx="399272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Koncept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76007" y="3419856"/>
            <a:ext cx="390128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376007" y="3419856"/>
            <a:ext cx="91440" cy="4572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58887" y="3419856"/>
            <a:ext cx="362696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Ishod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41767" y="3986784"/>
            <a:ext cx="353552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741767" y="3986784"/>
            <a:ext cx="91440" cy="457200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24647" y="3986784"/>
            <a:ext cx="326120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4B5563"/>
                </a:solidFill>
                <a:latin typeface="Calibri"/>
              </a:rPr>
              <a:t>Aktivnost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8727" y="4645152"/>
            <a:ext cx="499856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Rekurzivna struktura, JSON serijalizacija.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17 / 62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LUKA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Luka - prompt template + state-of-generation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Prompt template za strukturu kursa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STA ULAZI U PROMPT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Tema i kontekst kursa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Lista ciljeva ucenja (ishoda)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Bloomov nivo koji se traci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Stanje vec generisanog sadrzaja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ANTI-REDUNDANCIJA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Prethodno generisane aktivnosti se ubacuju u prompt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LLM se eksplicitno trazi da izbegne ponavljanje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Daje koherentnost preko celog kursa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78727" y="1444752"/>
            <a:ext cx="5364327" cy="427024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43319" y="1609344"/>
            <a:ext cx="5035143" cy="3941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Role: ti si iskusan instructional designer.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Tema kursa: {tema}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Ciljevi ucenja: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- {cilj_1}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- {cilj_2}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Generisi N aktivnosti za nivo: {bloom_level}.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Vec generisane aktivnosti (ne ponavljaj):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- {prev_activity_1}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- {prev_activity_2}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Format izlaza: JSON sa poljima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title, description, bloom_level, estimated_time.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5760720"/>
            <a:ext cx="536432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Skica prompta - parametri u {}.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18 / 62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Uros - SOLO Quiz Generator i PS4 prompt template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SOLO Quiz Generator (Uros)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ULAZ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PDF lekcija (Srpski / Engleski, auto-detekcija)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Parsirane sekcije i learning objekti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Generisana ontologija pojmova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IZLAZ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MCQ pitanja na 4 SOLO nivoa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Svako pitanje: source_line citat iz PDF-a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Relaciona i EA: ontology anchor u tags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TECH STACK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Ollama qwen2.5:14b-instruct-q4 lokalno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RDFLib + SPARQL, SQLite + Flask + React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8727" y="1444752"/>
            <a:ext cx="536432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PS4 prompt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737360"/>
            <a:ext cx="536432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Scaria et al. (2024) - PS4 nadmasio PS5 u istom papiru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2011680"/>
            <a:ext cx="5364327" cy="90297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78727" y="2011680"/>
            <a:ext cx="91440" cy="90297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07327" y="2057400"/>
            <a:ext cx="50900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Persona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377440"/>
            <a:ext cx="5090007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Role priming - LLM kao iskusan pedagog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8727" y="3006090"/>
            <a:ext cx="5364327" cy="90297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78727" y="3006090"/>
            <a:ext cx="91440" cy="90297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07327" y="3051810"/>
            <a:ext cx="50900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Pravila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3371850"/>
            <a:ext cx="5090007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SOLO def + 1 worked example (cross-domain: fotosinteza)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8727" y="4000500"/>
            <a:ext cx="5364327" cy="90297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78727" y="4000500"/>
            <a:ext cx="91440" cy="90297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07327" y="4046220"/>
            <a:ext cx="50900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Putanja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7327" y="4366260"/>
            <a:ext cx="5090007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Chain-of-thought scaffold - Wei et al. (2022)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4994910"/>
            <a:ext cx="5364327" cy="90297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78727" y="4994910"/>
            <a:ext cx="91440" cy="90297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07327" y="5040630"/>
            <a:ext cx="50900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Pitanja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7327" y="5360670"/>
            <a:ext cx="5090007" cy="53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JSON schema + typed distractors + Haladyna H-rules (2002)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8727" y="5989320"/>
            <a:ext cx="536432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Worked example cross-domain (fotosinteza, ne OS) - Sweller &amp; Cooper (1985):
studira se STRUKTURA pitanja, ne sadrzaj.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19 / 62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Two-pass generisanje za Extended Abstract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Razdvajamo 'sta pitati' od 'kako napraviti dobre distraktore'.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186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Pass 1: pitanje + odgovor +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18607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LLM generise pitanje za EA nivo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Vraca tacan odgovor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Vraca source_line - doslovni navod iz PDF-a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Veza pitanje &lt;-&gt; izvor je eksplicitna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79392"/>
            <a:ext cx="53186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Pass 2: typed distractors (predictive prompting)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736592"/>
            <a:ext cx="5318607" cy="10698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Echo: ponovi pitanje i tacan odgovor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Generisi 3 tipizirana distraktora po SOLO nivou: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      ◦  EA: APPLIES_WRONG_PRINCIPLE  /  RIGHT_PRINCIPLE_WRONG_DOMAIN  /  OVER_GENERALIZATION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Strategije zasnovane na Sadler (1998) misconception theory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06440"/>
            <a:ext cx="531860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Bitew et al. (2023): ~53% distraktora ocenjeno production-ready - prevazilazi prethodne SOTA pristupe.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24447" y="1444752"/>
            <a:ext cx="5318607" cy="219456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24447" y="1444752"/>
            <a:ext cx="109728" cy="219456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53047" y="1581912"/>
            <a:ext cx="504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PASS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1901952"/>
            <a:ext cx="5044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LLM -&gt; { pitanje, tacan_odgovor, source_line 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2404872"/>
            <a:ext cx="5044287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Fokus: pedagoska valjanost pitanja i grounding u izvoru. Distraktori se NE traze u ovom prolazu.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846591" y="3685032"/>
            <a:ext cx="274320" cy="365760"/>
          </a:xfrm>
          <a:prstGeom prst="downArrow">
            <a:avLst/>
          </a:prstGeom>
          <a:solidFill>
            <a:srgbClr val="C25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24447" y="4142232"/>
            <a:ext cx="5318607" cy="184708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24447" y="4142232"/>
            <a:ext cx="109728" cy="184708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53047" y="4279392"/>
            <a:ext cx="504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PASS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4599432"/>
            <a:ext cx="50442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LLM -&gt; { 3 typed distractor-a 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047" y="5102352"/>
            <a:ext cx="5044287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Echo prompt: LLM ponovi pitanje, pa generise distraktore po tipiziranim strategijama greske. Smanjuje 'lazne' distraktore.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20 / 62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Source-line citation - anti-halucinacija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Source-line citation kao anti-halucinacija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36432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Lagana varijanta RAG-a (Lewis et al., 2020): model surface-uje svoju citaciju.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364327" cy="4087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STA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Uz svako pitanje, LLM mora vratiti doslovni navod iz PDF-a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Navod opravdava tacan odgovor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ZASTO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Ako navod ne postoji u izvoru = signal halucinacije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Recenzent vidi gde je 'istina' - sekundama, ne minutima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LIMIT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Source_line hvata KRADJU citata - ne hvata pogresnu interpretaciju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Za to imamo CoVe (Chain-of-Verification) - vidi sledece slajdove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Primer JSON izlaza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1901952"/>
            <a:ext cx="5364327" cy="417880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3319" y="2066544"/>
            <a:ext cx="5035143" cy="3849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"level": "relational",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"question": "Kako se memorijska\n   hijerarhija odnosi prema brzini\n   pristupa i kapacitetu?",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"correct": "Brzina opada, a\n   kapacitet raste niz hijerarhiju.",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"distractors": [...],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"source_line": "Memorijska\n   hijerarhija je organizovana tako\n   da brze memorije imaju manji\n   kapacitet.",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"tags": { "ontology_anchor": {\n     "source": "RAM",\n     "target": "Cache",\n     "type": "is_faster_than"\n  } 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6126480"/>
            <a:ext cx="536432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Pojednostavljeni primer odgovora LLM-a.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21 / 62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STEFAN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Stefan - hijerarhijska dekompozicija zadataka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Task -&gt; Step -&gt; Action: tri nivoa razgradnje prirodno-jezicke instrukcije.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Computer Use Video Instructions (Stefan)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ULAZ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Prirodno-jezicka instrukcija praktickog zadatka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Npr. "Kreiraj C# konzolni projekat u Visual Studio-u"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IZLAZ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Snimljeni MP4 video tutorijal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OWL fajl izvrsnog plana (auditable)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HIJERARHIJA RAZGRADNJE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Task: kompletan zadatak (zatvorena celina)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Step: atomicna akcija (otvori, klikni, otkucaj)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Action: tip akcije iz fiksne ontologije akcija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Task / Step / Action hijerarhija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1901952"/>
            <a:ext cx="5364327" cy="133197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78727" y="1901952"/>
            <a:ext cx="91440" cy="133197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07327" y="1993392"/>
            <a:ext cx="5090007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313432"/>
            <a:ext cx="5090007" cy="9204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Open VS, create C# Console app, write Hello World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8727" y="3371088"/>
            <a:ext cx="5364327" cy="133197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78727" y="3371088"/>
            <a:ext cx="91440" cy="133197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07327" y="3462528"/>
            <a:ext cx="5090007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Step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3782568"/>
            <a:ext cx="5090007" cy="9204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1. open_application Visual Studio   -&gt;   2. wait   -&gt;   3. click Create new project   -&gt;   ...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8727" y="4840224"/>
            <a:ext cx="5364327" cy="133197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78727" y="4840224"/>
            <a:ext cx="91440" cy="133197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07327" y="4931664"/>
            <a:ext cx="5090007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7327" y="5251704"/>
            <a:ext cx="5090007" cy="9204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open_application | click | type_text | key_press | wait | capture_screen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22 / 62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TRADEOFF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Prompt engineering vs Fine-tuning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44752"/>
          <a:ext cx="11094413" cy="3447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4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001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00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2469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Prompt engineering</a:t>
                      </a:r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469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Trosak razvoja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Nizak - samo 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Visok - dataset + trening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469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Trosak izvrsenja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Veci prompt = veci token cost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Manji prompt, ali specijalizovan model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469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Brzina iteracije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Sekunde - promenis 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Sati / dani - rerun trening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469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Domen-specificnost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Ogranicena, oslanja se na bazni model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Visoka, prilagodjen domenu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469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Kontrola halucinacija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Posredna (CoT, schema, grounding)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Direktna (kvalitet treninga)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47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Nas izbor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Da - PS4 + ontology grounding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Ne, za sada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5074920"/>
            <a:ext cx="11094415" cy="9144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5074920"/>
            <a:ext cx="73152" cy="9144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5166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Zasto prompt engineering, ne fine-tune?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Bez stabilnog domenskog dataset-a za SOLO/Bloom u programiranju, prompt + ontology grounding daje brzu, transparentnu i jeftiniju iteraciju.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23 / 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TRADEOFF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Lokalni vs cloud LLM-ovi - mi koristimo oba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44752"/>
          <a:ext cx="11094414" cy="4361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28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0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60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0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3098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Lokalni: Ollama Qwen 2.5 14B</a:t>
                      </a:r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Cloud: Groq Llama 3.3 70B</a:t>
                      </a:r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Cloud Vision: Qwen 2.5 VL 72B</a:t>
                      </a:r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309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Koristi se 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Uros - SOLO pitanja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Stefan - planiranje koraka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Stefan - UI detekcija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309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Trosak po pozivu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0 (lokalno)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Mali (per token)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Srednji (vision)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309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Brzina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Sporije, zavisi od GPU-a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Vrlo brzo (Groq accel.)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Brza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309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Privatnost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Visoka (sve lokalno)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Niska - cloud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Niska - cloud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309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Kvalitet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Solidan za EA, slabiji za nuansiranja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Veoma dobar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Najbolji za vision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31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Cache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SHA-256 keys u SQLite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n/a u ovom projektu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24 / 62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KLJUCNA PORUKA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Kljucna poruka segmenta 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10512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C25700"/>
                </a:solidFill>
                <a:latin typeface="Calibri"/>
              </a:rPr>
              <a:t>Kljucna poruka segmenta A</a:t>
            </a:r>
          </a:p>
        </p:txBody>
      </p:sp>
      <p:sp>
        <p:nvSpPr>
          <p:cNvPr id="6" name="Rectangle 5"/>
          <p:cNvSpPr/>
          <p:nvPr/>
        </p:nvSpPr>
        <p:spPr>
          <a:xfrm>
            <a:off x="1380721" y="2450592"/>
            <a:ext cx="9430252" cy="237744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380721" y="2450592"/>
            <a:ext cx="9430252" cy="300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746481" y="2907792"/>
            <a:ext cx="8698732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0" i="1">
                <a:solidFill>
                  <a:srgbClr val="1B365D"/>
                </a:solidFill>
                <a:latin typeface="Calibri"/>
              </a:rPr>
              <a:t>Hijerarhijska dekompozicija + formalna pedagoska taksonomija ugradjena u prompt transformisu LLM iz generickog generatora teksta u pedagoski kalibrisan alat.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93792"/>
            <a:ext cx="357621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 i="0">
                <a:solidFill>
                  <a:srgbClr val="C25700"/>
                </a:solidFill>
                <a:latin typeface="Calibri"/>
              </a:rPr>
              <a:t>Bloom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59552"/>
            <a:ext cx="357621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4B5563"/>
                </a:solidFill>
                <a:latin typeface="Calibri"/>
              </a:rPr>
              <a:t>drives the WHAT - tipovi aktivnosti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7738" y="5193792"/>
            <a:ext cx="357621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 i="0">
                <a:solidFill>
                  <a:srgbClr val="C25700"/>
                </a:solidFill>
                <a:latin typeface="Calibri"/>
              </a:rPr>
              <a:t>SOLO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7738" y="5559552"/>
            <a:ext cx="357621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4B5563"/>
                </a:solidFill>
                <a:latin typeface="Calibri"/>
              </a:rPr>
              <a:t>drives the HOW DEEP - kognitivne razlike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6836" y="5193792"/>
            <a:ext cx="357621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 i="0">
                <a:solidFill>
                  <a:srgbClr val="C25700"/>
                </a:solidFill>
                <a:latin typeface="Calibri"/>
              </a:rPr>
              <a:t>PS4 / dekompozicija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6836" y="5559552"/>
            <a:ext cx="357621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4B5563"/>
                </a:solidFill>
                <a:latin typeface="Calibri"/>
              </a:rPr>
              <a:t>drives the HOW - struktura prompta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25 / 62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219456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5C060"/>
                </a:solidFill>
                <a:latin typeface="Calibri"/>
              </a:rPr>
              <a:t>SEGMENT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Ontologije i formalni grounding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160520"/>
            <a:ext cx="1371600" cy="40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4343400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D1D5DB"/>
                </a:solidFill>
                <a:latin typeface="Calibri"/>
              </a:rPr>
              <a:t>Ontologija je ugovor izmedju LLM-a i sistema - sve sto LLM proizvede mora se mapirati.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C4C9D4"/>
                </a:solidFill>
                <a:latin typeface="Calibri"/>
              </a:rPr>
              <a:t>25 min  /  10 slajdova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OSNOVE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OWL - Web Ontology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Klase, instance, relacije, ogranicenja, mas i mas serijalizacija.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OWL (Web Ontology Language)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W3C standard za formalne ontologije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Definise klase, instance, relacije, ogranicenja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Citljiv mas i mas (RDF/XML, Turtle, OWL/XML)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Reasoning - moze da izvodi nove cinjenice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MI KORISTIMO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Stefan: OWL u Turtle (computer_use.ttl)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Uros: seed OWL + RDF/XML eksport za Protege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Luka: konceptualni model serijalizovan u JSON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901952"/>
            <a:ext cx="5364327" cy="417880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3319" y="2066544"/>
            <a:ext cx="5035143" cy="3849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@prefix cu: &lt;http://example.org/computer-use#&gt;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@prefix owl: &lt;.../owl#&gt;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@prefix rdf: &lt;.../rdf-syntax-ns#&gt;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cu:Task a owl:Class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cu:Step a owl:Class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cu:hasStep a owl:ObjectProperty 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rdfs:domain cu:Task 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rdfs:range  cu:Step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cu:stepOrder a owl:DatatypeProperty 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rdfs:domain cu:Step 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rdfs:range  xsd:integer 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6126480"/>
            <a:ext cx="536432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Mini-isecak iz computer_use.ttl (Stefan).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27 / 62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OSNOVE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RDF i SPARQL - tripleti i upiti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Sve cinjenice su tripleti; sve upite pisemo nad gradom triplet-a.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RDF - tripleti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Resource Description Framework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Sve cinjenice = (subject, predicate, object)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Primer: (RAM, is_faster_than, Disk)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OWL je TBox, RDF je ABox - klase vs instance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279392"/>
            <a:ext cx="5364327" cy="11887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4443984"/>
            <a:ext cx="5035143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:RAM   rdf:type  :MemoryDevice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:Disk  rdf:type  :MemoryDevice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:RAM   :isFasterThan  :Disk 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13832"/>
            <a:ext cx="536432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3 RDF tripleta = mini graf.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SPARQL - upitni jezik nad RDF/OWL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8727" y="1901952"/>
            <a:ext cx="5364327" cy="408736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3319" y="2066544"/>
            <a:ext cx="5035143" cy="3758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SELECT ?step ?order ?action ?target WHERE {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?task a cu:Task ; cu:hasStep ?step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?step cu:stepOrder ?order 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cu:hasAction ?action 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cu:targetName ?target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} ORDER BY ?order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8727" y="6035040"/>
            <a:ext cx="536432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Stefanov upit za citanje koraka iz OWL plana.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28 / 62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LUKA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Luka - JSON serijalizacija strukture kursa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LLM lakse generise validan JSON nego direktan OWL - JSON -&gt; OWL je determinizam.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JSON serijalizacija strukture kursa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Hijerarhijska, rekurzivna struktura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Svaki cvor ima id, name, bloom_level, children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Aktivnosti su listovi u stablu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Lako se mapira u Protege / OWL graph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ZASTO JSON, A NE ODMAH OWL?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Lakse za LLM da generise validan JSON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Lakse za UI prikaz i editovanje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Mapiranje JSON -&gt; OWL je determinizam, lako se radi unazad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901952"/>
            <a:ext cx="5364327" cy="417880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3319" y="2066544"/>
            <a:ext cx="5035143" cy="3849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"course": "Operativni sistemi",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"modules": [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{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"name": "Procesi i niti",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"concepts": [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{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  "name": "Proces",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  "outcomes": [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    {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      "name": "Razumeti stanja procesa",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      "bloom": "Razumeti",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      "activities": [...]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    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  ]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]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]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6126480"/>
            <a:ext cx="536432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Primer Lukinog JSON izlaza (pojednostavljeno).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29 / 62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Uros - ConceptRelationship ontologija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Relacije izmedju learning objekata - osnova za relacionalna i EA pitanja.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ConceptRelationship ontologija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MODELUJE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Relacije izmedju learning objekata (LO) jedne lekcije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Edge = (source, target, type, description)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Cuva se u SQL tabeli i eksportuje u Turtle / OWL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MULTI-PASS EKSTRAKCIJA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5 LLM prolaza, jedan po tipu relacije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Smanjuje hallucinated 'prerequisite' lance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Konzervativan fallback samo ako LLM vrati nulu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TIPOVI RELACIJA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prerequisite, example_of, depends_on, 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Tipovi relacija u ontologiji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1901952"/>
            <a:ext cx="5364327" cy="78089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78727" y="1901952"/>
            <a:ext cx="91440" cy="78089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07327" y="1901952"/>
            <a:ext cx="1828800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prerequisite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901952"/>
            <a:ext cx="3169767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A se mora razumeti pre 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8727" y="2774289"/>
            <a:ext cx="5364327" cy="78089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78727" y="2774289"/>
            <a:ext cx="91440" cy="78089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07327" y="2774289"/>
            <a:ext cx="1828800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example_of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1847" y="2774289"/>
            <a:ext cx="3169767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A je primer pojma 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8727" y="3646627"/>
            <a:ext cx="5364327" cy="78089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78727" y="3646627"/>
            <a:ext cx="91440" cy="78089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07327" y="3646627"/>
            <a:ext cx="1828800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depends_on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1847" y="3646627"/>
            <a:ext cx="3169767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A operativno zavisi od 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4518964"/>
            <a:ext cx="5364327" cy="78089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78727" y="4518964"/>
            <a:ext cx="91440" cy="78089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07327" y="4518964"/>
            <a:ext cx="1828800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similar_to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847" y="4518964"/>
            <a:ext cx="3169767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A i B dele kljucnu karakteristiku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727" y="5391302"/>
            <a:ext cx="5364327" cy="78089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78727" y="5391302"/>
            <a:ext cx="91440" cy="78089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07327" y="5391302"/>
            <a:ext cx="1828800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part_of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1847" y="5391302"/>
            <a:ext cx="3169767" cy="7808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A je deo strukture 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30 / 62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Uros - SPARQL upit za 'ontology anchor'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Pitanje se ne pravi 'iz vazduha' - bira se konkretna veza i ona postaje kontekst.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Ontology anchor kao kontekst pitanja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36432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KAQG pattern (Lin et al., 2025) - knowledge graph kao gradnja-constraint.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5364327" cy="4087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Za relacionalna i EA pitanja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SPARQL bira jedan ConceptRelationship red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Anchor postaje deo prompta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Pitanje se gradi oko jedne konkretne veze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POSLEDICE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Pitanje je trasabilno - zna se na koju vezu se odnosi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Dedup po (anchor, normalized_correct_answer) - egzaktno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Lakse za reviziju nastavnika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BEZ ANCHOR-A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Relacionalna pitanja 'klize' u genericke poredjenja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Anchor pretvara vagi nivo u specificnu ivicu grafa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1901952"/>
            <a:ext cx="5364327" cy="417880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3319" y="2066544"/>
            <a:ext cx="5035143" cy="3849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SELECT ?src ?type ?tgt ?desc WHERE {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?rel a :ConceptRelationship 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:source ?src ; :target ?tgt 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:relType ?type ; :description ?desc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?src :inLesson &lt;lesson_42&gt;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} ORDER BY RAND() LIMIT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6126480"/>
            <a:ext cx="536432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Biranje jedne veze kao anchor-a za prompt LLM-a.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31 / 62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STEFAN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Stefan - OWL ontologija izvrsnog plana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Plan koji LLM generise mora se mapirati na klase Task / Step / Action.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Stefan - OWL ontologija plana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KLASE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Task - kompletan automatizacioni zadatak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Step - atomicna akcija u zadatku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Action - tip akcije iz fiksne liste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UIElement, Application, ExecutionState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OBJECT PROPERTIES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hasStep, hasAction, hasTarget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nextStep / previousStep, requiresApplication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DATA PROPERTIES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stepOrder, stepDescription, inputValue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targetName, waitDuration, expectedResult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Primer instance Step-a u OWL/RDF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1901952"/>
            <a:ext cx="5364327" cy="417880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3319" y="2066544"/>
            <a:ext cx="5035143" cy="3849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&lt;cu:Step rdf:about=".../Step_1"&gt;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&lt;cu:stepOrder&gt;1&lt;/cu:stepOrder&gt;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&lt;cu:hasAction rdf:resource="...open_application"/&gt;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&lt;cu:targetName&gt;Visual Studio&lt;/cu:targetName&gt;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&lt;cu:stepDescription&gt;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Start Visual Studio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&lt;/cu:stepDescription&gt;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&lt;cu:expectedResult&gt;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Visual Studio is opened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&lt;/cu:expectedResult&gt;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&lt;cu:hasState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rdf:resource="...PendingState"/&gt;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&lt;/cu:Step&gt;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6126480"/>
            <a:ext cx="536432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Skiniran iz computer_use.ttl (Stefanov repo).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32 / 62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STEFAN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Stefan - pravila validacije plana (SPARQL)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Pre nego sto se ista izvrsi, SPARQL upiti proveravaju strukturna pravila.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44752"/>
          <a:ext cx="11094414" cy="4361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58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58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26948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Pravilo</a:t>
                      </a:r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Opis</a:t>
                      </a:r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Zasto</a:t>
                      </a:r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694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Action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Samo akcije iz ontologije su dozvoljene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LLM ne moze izmisliti akciju koja ne moze biti izvrsena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694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Sequence validation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open_application mora prethoditi interakciji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Sprecava klikove na nepostojeci prozor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694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Wait recommendation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wait posle open_application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UI se ucitava - bez pauze klikovi promasuju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694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Parameter validation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type_text zahteva value, key_press zahteva ime tipke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Hvata strukturne greske LLM-a u JSON izlazu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6948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Target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click mora imati specifican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Bez targeta nema sta da se klikne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33 / 62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ANTI-HALUCINACIJA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Anti-halucinacioni mehanizmi - 3 ugla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Svaki clan tima pokriva drugaciju vrstu greske LLM-a.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3545738" cy="4636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354573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73352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UROS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317997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source_line citat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468880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606040"/>
            <a:ext cx="3179978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LLM mora vratiti doslovni navod iz PDF-a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Citat opravdava tacan odgovor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Ako navod ne postoji = signal halucinacije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Recenzent vidi gde je tacan odgovor 'usidren'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1444752"/>
            <a:ext cx="3545738" cy="4636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22978" y="1444752"/>
            <a:ext cx="354573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05858" y="1673352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LUKA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5858" y="1965960"/>
            <a:ext cx="317997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state-of-generation kontekst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05858" y="2468880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05858" y="2606040"/>
            <a:ext cx="3179978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Vec generisane aktivnosti ubacuju se u prompt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LLM eksplicitno cita 'ne ponavljaj ovo'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Daje koherentnost kroz ceo kurs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Smanjuje genericne, ponavljajuce ishode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7316" y="1444752"/>
            <a:ext cx="3545738" cy="4636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7316" y="1444752"/>
            <a:ext cx="354573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80196" y="1673352"/>
            <a:ext cx="31799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STEFAN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0196" y="1965960"/>
            <a:ext cx="317997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SPARQL odbacuje nevalidne sekvence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80196" y="2468880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80196" y="2606040"/>
            <a:ext cx="3179978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Pre izvrsavanja - ontoloska provera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Pravila: open_app pre interakcije, wait posle open_app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type_text zahteva value, ...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Nevalidan plan = stop, ne pravi se video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34 / 62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ANTI-HALUCINACIJA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Anatomija halucinacije - jedan konkretan primer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Levo: bez check-a, halucinacija prolazi. Desno: source_line + fuzzy match je hvataju.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C25700"/>
                </a:solidFill>
                <a:latin typeface="Calibri"/>
              </a:rPr>
              <a:t>Bez source_line check-a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10512"/>
            <a:ext cx="536432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4B5563"/>
                </a:solidFill>
                <a:latin typeface="Calibri"/>
              </a:rPr>
              <a:t>(LLM moze izmisliti cinjenicu)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76272"/>
            <a:ext cx="5364327" cy="3813048"/>
          </a:xfrm>
          <a:prstGeom prst="rect">
            <a:avLst/>
          </a:prstGeom>
          <a:solidFill>
            <a:srgbClr val="F5F6F8"/>
          </a:solidFill>
          <a:ln w="15240">
            <a:solidFill>
              <a:srgbClr val="C25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176272"/>
            <a:ext cx="5364327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2404872"/>
            <a:ext cx="496199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Q: Koja godina je donesen TCP/IP standard?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907792"/>
            <a:ext cx="496199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1F2937"/>
                </a:solidFill>
                <a:latin typeface="Calibri"/>
              </a:rPr>
              <a:t>A: 1981. (RFC 791)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410712"/>
            <a:ext cx="496199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source_line: (nedostaje)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3867912"/>
            <a:ext cx="496199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25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3977640"/>
            <a:ext cx="468767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C25700"/>
                </a:solidFill>
                <a:latin typeface="Calibri"/>
              </a:rPr>
              <a:t>! Problem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33672"/>
            <a:ext cx="4687671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Tacan podatak izgleda - ali je u PDF-u pisalo '1983 (DoD)'. LLM se 'setio' opste cinjenice umesto da cita lekciju.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Sa source_line + fuzzy 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727" y="1810512"/>
            <a:ext cx="536432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4B5563"/>
                </a:solidFill>
                <a:latin typeface="Calibri"/>
              </a:rPr>
              <a:t>(halucinacija se markira pre nego stigne do nastavnika)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8727" y="2176272"/>
            <a:ext cx="5364327" cy="3813048"/>
          </a:xfrm>
          <a:prstGeom prst="rect">
            <a:avLst/>
          </a:prstGeom>
          <a:solidFill>
            <a:srgbClr val="F5F6F8"/>
          </a:solidFill>
          <a:ln w="15240">
            <a:solidFill>
              <a:srgbClr val="1B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78727" y="2176272"/>
            <a:ext cx="5364327" cy="73152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79895" y="2404872"/>
            <a:ext cx="496199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Q: Koja godina je donesen TCP/IP standard?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2907792"/>
            <a:ext cx="496199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1F2937"/>
                </a:solidFill>
                <a:latin typeface="Calibri"/>
              </a:rPr>
              <a:t>A: 1983.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9895" y="3410712"/>
            <a:ext cx="4961991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source_line: "1. januara 1983. ARPANET je presao na TCP/IP protokol stek."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79895" y="4096512"/>
            <a:ext cx="496199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1B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17055" y="4206240"/>
            <a:ext cx="468767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OK Fuzzy match: 0.94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17055" y="4462272"/>
            <a:ext cx="4687671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Navod nadjen u PDF-u, sekcija 2.1, str. 14. Pitanje prolazi automatsku validaciju i ide u QuestionBank.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00760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4B5563"/>
                </a:solidFill>
                <a:latin typeface="Calibri"/>
              </a:rPr>
              <a:t>Pal et al. (2023): bez RAG/grounding-a, GPT-4 ima 15-20% stopu halucinacije na faktickim pitanjima.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35 / 62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KLJUCNA PORUKA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Kljucna poruka segmenta B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10512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C25700"/>
                </a:solidFill>
                <a:latin typeface="Calibri"/>
              </a:rPr>
              <a:t>Kljucna poruka segmenta B</a:t>
            </a:r>
          </a:p>
        </p:txBody>
      </p:sp>
      <p:sp>
        <p:nvSpPr>
          <p:cNvPr id="6" name="Rectangle 5"/>
          <p:cNvSpPr/>
          <p:nvPr/>
        </p:nvSpPr>
        <p:spPr>
          <a:xfrm>
            <a:off x="1380721" y="2450592"/>
            <a:ext cx="9430252" cy="237744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380721" y="2450592"/>
            <a:ext cx="9430252" cy="300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746481" y="2816352"/>
            <a:ext cx="8698732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0" i="1">
                <a:solidFill>
                  <a:srgbClr val="1B365D"/>
                </a:solidFill>
                <a:latin typeface="Calibri"/>
              </a:rPr>
              <a:t>Ontologija je ugovor izmedju LLM-a i sistema: ono sto LLM proizvede mora se mapirati na klase i relacije. To filtrira halucinacije i omogucava ponovnu upotrebu sadrzaja.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93792"/>
            <a:ext cx="357621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 i="0">
                <a:solidFill>
                  <a:srgbClr val="C25700"/>
                </a:solidFill>
                <a:latin typeface="Calibri"/>
              </a:rPr>
              <a:t>OWL/RDF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59552"/>
            <a:ext cx="357621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4B5563"/>
                </a:solidFill>
                <a:latin typeface="Calibri"/>
              </a:rPr>
              <a:t>definicija strukture i instanci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7738" y="5193792"/>
            <a:ext cx="357621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 i="0">
                <a:solidFill>
                  <a:srgbClr val="C25700"/>
                </a:solidFill>
                <a:latin typeface="Calibri"/>
              </a:rPr>
              <a:t>SPARQL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7738" y="5559552"/>
            <a:ext cx="357621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4B5563"/>
                </a:solidFill>
                <a:latin typeface="Calibri"/>
              </a:rPr>
              <a:t>kontrola toka i upita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6836" y="5193792"/>
            <a:ext cx="357621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 i="0">
                <a:solidFill>
                  <a:srgbClr val="C25700"/>
                </a:solidFill>
                <a:latin typeface="Calibri"/>
              </a:rPr>
              <a:t>Anchor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6836" y="5559552"/>
            <a:ext cx="357621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>
                <a:solidFill>
                  <a:srgbClr val="4B5563"/>
                </a:solidFill>
                <a:latin typeface="Calibri"/>
              </a:rPr>
              <a:t>vezivanje pitanja za izvor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36 / 62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219456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5C060"/>
                </a:solidFill>
                <a:latin typeface="Calibri"/>
              </a:rPr>
              <a:t>SEGMENT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Evaluacija, kvalitet i ogranicenja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160520"/>
            <a:ext cx="1371600" cy="40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4343400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D1D5DB"/>
                </a:solidFill>
                <a:latin typeface="Calibri"/>
              </a:rPr>
              <a:t>Kvalitet opada sa kognitivnom slozenoscu - to opravdava human-in-the-loop.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C4C9D4"/>
                </a:solidFill>
                <a:latin typeface="Calibri"/>
              </a:rPr>
              <a:t>25 min  /  9 slajdova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A-PRIORI VALIDACIJA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Pre nego sto student vidi pitanje - 3 sloja provere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Cela 'baterija' tehnika iz literature: prevent + generate + detect, sve pre coveka.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Pre nego sto bilo koji student vidi pitanje - 3 sloja provere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10512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4B5563"/>
                </a:solidFill>
                <a:latin typeface="Calibri"/>
              </a:rPr>
              <a:t>Isti rule kodovi (H14, H17, H22, H27, ...) postoje i u promptu (prevent) i u lint-u (detect).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21992"/>
            <a:ext cx="11094415" cy="122529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221992"/>
            <a:ext cx="137160" cy="1225296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295144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1. PREVENTION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060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4B5563"/>
                </a:solidFill>
                <a:latin typeface="Calibri"/>
              </a:rPr>
              <a:t>Pre LLM poziva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295144"/>
            <a:ext cx="8168335" cy="1088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PS4 template (Scaria 2024) - role + def + 1 worked example + CoT + schema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Haladyna 2002 rules in prompt: S1-S4 (stem), O1-O7 (options)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Typed distractor strategies po SOLO nivou (Bitew 2023 + Sadler 1998)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Ontology anchor block za relacionalna/EA pitanja (KAQG 2025)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584448"/>
            <a:ext cx="11094415" cy="122529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3584448"/>
            <a:ext cx="137160" cy="122529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2. GENERATION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6849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4B5563"/>
                </a:solidFill>
                <a:latin typeface="Calibri"/>
              </a:rPr>
              <a:t>LLM poziv + source grounding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3657600"/>
            <a:ext cx="8168335" cy="1088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Ollama Qwen 2.5 14B, single call, JSON mode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Verbatim source_line citacija (lagani RAG - Lewis 2020)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Two-pass orchestration za Extended Abstract (Bitew 2023)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Self-consistency best-of-N (Wang 2022) za high-stakes generisanje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946904"/>
            <a:ext cx="11094415" cy="122529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48640" y="4946904"/>
            <a:ext cx="137160" cy="1225296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5020056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3.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330952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4B5563"/>
                </a:solidFill>
                <a:latin typeface="Calibri"/>
              </a:rPr>
              <a:t>Posle LLM-a, pre coveka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37560" y="5020056"/>
            <a:ext cx="8168335" cy="1088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Haladyna lint (11 pravila, 0-100 skor) + Embedding plausibility/diversity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Chain-of-Verification (Dhuliawala 2023) - LLM proverava sebe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Solvability test (LLM kao slep solver) + SOLO judge (Cohen's kappa)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Concept coverage v2 (Kurdi 2020) + IOC + readability + ambiguity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38 / 62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HALADYNA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Haladyna item-writing pravila - prevent + detect hybrid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Ista pravila u promptu i u lint-u - lint flag se moze kvotirati nazad u prompt rule.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Haladyna et al. (2002) - 31 pravilo, 11 automatizovanih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36432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Validovano nad 27 udzbenika i 27 empirijskih studija.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39112"/>
          <a:ext cx="5364327" cy="4041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53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89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Kod</a:t>
                      </a:r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Pravilo</a:t>
                      </a:r>
                    </a:p>
                  </a:txBody>
                  <a:tcPr marT="54864" marB="54864">
                    <a:solidFill>
                      <a:srgbClr val="1B36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H14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Stem se zavrsava pitanjem ili jasnim imperativom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H16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Stem ispod ~250 znakova, bez ukrasa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H17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Izbeci negaciju (ili je istakni)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H19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Tacno jedna tacna opcija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H22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Nijedne dve opcije nisu parafraze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H24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Najduza opcija &lt;= 2x najkraca (length clue)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H25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Nikad 'all/none of the above'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416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H27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Tacna opcija NIJE najduza (give-away)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4172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O7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Sve opcije gramaticki paralelne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Hybrid: ista pravila u promptu I u lint-u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1947672"/>
            <a:ext cx="5364327" cy="96621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78727" y="1947672"/>
            <a:ext cx="91440" cy="966216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9895" y="2020824"/>
            <a:ext cx="50900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PROMPT (prevent)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9895" y="2295144"/>
            <a:ext cx="509000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STEM_RULES + OPTION_RULES sekcije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9895" y="2514600"/>
            <a:ext cx="5090007" cy="371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LLM eksplicitno cita 11 numerisanih ogranicenja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8823731" y="2932176"/>
            <a:ext cx="274320" cy="237744"/>
          </a:xfrm>
          <a:prstGeom prst="downArrow">
            <a:avLst/>
          </a:prstGeom>
          <a:solidFill>
            <a:srgbClr val="C25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78727" y="3188208"/>
            <a:ext cx="5364327" cy="96621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78727" y="3188208"/>
            <a:ext cx="91440" cy="96621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79895" y="3261360"/>
            <a:ext cx="50900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C25700"/>
                </a:solidFill>
                <a:latin typeface="Calibri"/>
              </a:rPr>
              <a:t>LLM 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9895" y="3535680"/>
            <a:ext cx="509000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Ollama Qwen 2.5 14B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3755136"/>
            <a:ext cx="5090007" cy="371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Generise JSON sa stem, correct, distractors, source_line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8823731" y="4172712"/>
            <a:ext cx="274320" cy="237744"/>
          </a:xfrm>
          <a:prstGeom prst="downArrow">
            <a:avLst/>
          </a:prstGeom>
          <a:solidFill>
            <a:srgbClr val="C25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78727" y="4428744"/>
            <a:ext cx="5364327" cy="96621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78727" y="4428744"/>
            <a:ext cx="91440" cy="966216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79895" y="4501896"/>
            <a:ext cx="50900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LINT (detect)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9895" y="4776216"/>
            <a:ext cx="509000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mcq_lint.py rule engine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895" y="4995672"/>
            <a:ext cx="5090007" cy="371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Skenira izlaz, vraca H-flag-ove + 0-100 composite skor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8727" y="5806440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C25700"/>
                </a:solidFill>
                <a:latin typeface="Calibri"/>
              </a:rPr>
              <a:t>Isti rule kod (H22) i u promptu i u lint-u - lint flag se moze kvotirati nazad u prompt rule.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39 / 62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LLM-AS-JUDGE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LLM kao kriticar samog sebe - CoVe, Solvability, SOLO judge, IOC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Posle generisanja, pre coveka: drugi LLM (ili isti sa drugacijim promptom) procenjuje izlaz.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LLM kao kriticar samog sebe - 4 tehnike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10512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4B5563"/>
                </a:solidFill>
                <a:latin typeface="Calibri"/>
              </a:rPr>
              <a:t>Drugi LLM (ili isti sa razlicitim promptom + temp=0.1) procenjuje izlaz prvog.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57984"/>
            <a:ext cx="5464911" cy="189280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157984"/>
            <a:ext cx="5464911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2322576"/>
            <a:ext cx="506257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CoVe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6383" y="2322576"/>
            <a:ext cx="2286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1">
                <a:solidFill>
                  <a:srgbClr val="4B5563"/>
                </a:solidFill>
                <a:latin typeface="Calibri"/>
              </a:rPr>
              <a:t>Dhuliawala et al. (2023)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642616"/>
            <a:ext cx="506257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C25700"/>
                </a:solidFill>
                <a:latin typeface="Calibri"/>
              </a:rPr>
              <a:t>Chain-of-Verification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916936"/>
            <a:ext cx="36576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8" y="3026664"/>
            <a:ext cx="5062575" cy="886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1. uzmi pitanje + tacan odgovor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2. planiraj 2-3 kratka verifikacijska pitanja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3. odgovori NA SVAKO nezavisno (samo iz izvora)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4. sudi: SUPPORTED / UNDERDETERMINED / CONTRADICTED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Hvata slucaj kad citat postoji, ali NE opravdava odgovor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8143" y="2157984"/>
            <a:ext cx="5464911" cy="189280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78143" y="2157984"/>
            <a:ext cx="5464911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79311" y="2322576"/>
            <a:ext cx="506257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Solvability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5887" y="2322576"/>
            <a:ext cx="2286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1">
                <a:solidFill>
                  <a:srgbClr val="4B5563"/>
                </a:solidFill>
                <a:latin typeface="Calibri"/>
              </a:rPr>
              <a:t>Crocker &amp; Algina (1986) p-value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9311" y="2642616"/>
            <a:ext cx="506257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C25700"/>
                </a:solidFill>
                <a:latin typeface="Calibri"/>
              </a:rPr>
              <a:t>LLM kao slep solver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79311" y="2916936"/>
            <a:ext cx="36576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9311" y="3026664"/>
            <a:ext cx="5062575" cy="886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Sakrij key, izmesaj redosled opcija, N=5 prolaza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 ~ 1.0 -&gt; trivijalno (ili length clue)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0.6-0.9 -&gt; primerena tezina za LLM-class solver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 &lt; 0.5 -&gt; misframed / kljuc pogresan / out of source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Sinteticki analog klasicnog test-theory difficulty indeksa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215384"/>
            <a:ext cx="5464911" cy="189280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4215384"/>
            <a:ext cx="5464911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9808" y="4379976"/>
            <a:ext cx="506257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SOLO judge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6383" y="4379976"/>
            <a:ext cx="2286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1">
                <a:solidFill>
                  <a:srgbClr val="4B5563"/>
                </a:solidFill>
                <a:latin typeface="Calibri"/>
              </a:rPr>
              <a:t>Landis &amp; Koch (1977)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700016"/>
            <a:ext cx="506257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C25700"/>
                </a:solidFill>
                <a:latin typeface="Calibri"/>
              </a:rPr>
              <a:t>Nezavisna klasifikacija + Cohen's kappa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9808" y="4974336"/>
            <a:ext cx="36576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9808" y="5084064"/>
            <a:ext cx="5062575" cy="886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Drugi LLM klasifikuje pitanje u SOLO nivo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Bez znanja koji je nivo generator trazio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kappa &lt; 0.20 slight | 0.41-0.60 moderate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0.61-0.80 substantial | 0.81+ almost perfect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A-priori provera 'da li pogodjeno SOLO' bez studenata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8143" y="4215384"/>
            <a:ext cx="5464911" cy="189280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178143" y="4215384"/>
            <a:ext cx="5464911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9311" y="4379976"/>
            <a:ext cx="506257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IOC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5887" y="4379976"/>
            <a:ext cx="2286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1">
                <a:solidFill>
                  <a:srgbClr val="4B5563"/>
                </a:solidFill>
                <a:latin typeface="Calibri"/>
              </a:rPr>
              <a:t>Rovinelli &amp; Hambleton (1977)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4700016"/>
            <a:ext cx="506257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C25700"/>
                </a:solidFill>
                <a:latin typeface="Calibri"/>
              </a:rPr>
              <a:t>Item-Objective Congruence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79311" y="4974336"/>
            <a:ext cx="36576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79311" y="5084064"/>
            <a:ext cx="5062575" cy="886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Za svaki item: ocena -1 / 0 / +1 vs ishod ucenja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Da li ovo pitanje meri BAS ovaj ishod?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IOC index = srednja vrednost, [-1, +1]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&gt;= 0.5 prihvatljivo, &gt;= 0.75 jako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Content validity - prvi sloj psihometrije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40 / 62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Pilot evaluacija SOLO pitanja - ljudska anotacija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Posle automatske validacije: tim + nezavisan recenzent, 4 dimenzije, Likert 1-5.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Pilot evaluacija SOLO pitanja (Uros)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CILJ EVALUACIJE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Da li je kvalitet konstantan kroz SOLO nivoe?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Da li distraktori postaju lazni / slabi na visim nivoima?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METODOLOGIJA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Vise PDF lekcija iz razlicitih domena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 pitanja po nivou, rucna anotacija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Sudije: clanovi tima + nezavisni recenzent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Metrike: valjanost, kvalitet distraktora, source-line tacnost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FORMAT IZLAZA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Skor na skali 1-5 po dimenziji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Komentari za kvalitativnu analizu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444752"/>
            <a:ext cx="5364327" cy="4727448"/>
          </a:xfrm>
          <a:prstGeom prst="rect">
            <a:avLst/>
          </a:prstGeom>
          <a:solidFill>
            <a:srgbClr val="EEEF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78727" y="3442716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2000" b="1" i="0">
                <a:solidFill>
                  <a:srgbClr val="4B5563"/>
                </a:solidFill>
                <a:latin typeface="Calibri"/>
              </a:rPr>
              <a:t>[ Slika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3854196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4B5563"/>
                </a:solidFill>
                <a:latin typeface="Calibri"/>
              </a:rPr>
              <a:t>Tabela metrike po nivou / domenu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41 / 62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REZULTATI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Rezultati - kvalitet po SOLO nivou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Validnost i kvalitet distraktora padaju kako se ide ka EA nivou.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Rezultati - kvalitet po SOLO nivou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1371600" cy="7840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Unistructural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2019566"/>
            <a:ext cx="3901287" cy="54886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965960" y="2019566"/>
            <a:ext cx="3589184" cy="54886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46584" y="1901952"/>
            <a:ext cx="640080" cy="7840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50642"/>
            <a:ext cx="1371600" cy="7840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Multistructural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65960" y="2968256"/>
            <a:ext cx="3901287" cy="54886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965960" y="2968256"/>
            <a:ext cx="3316094" cy="54886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73494" y="2850642"/>
            <a:ext cx="640080" cy="7840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85%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9332"/>
            <a:ext cx="1371600" cy="7840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Relational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65960" y="3916946"/>
            <a:ext cx="3901287" cy="54886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965960" y="3916946"/>
            <a:ext cx="2730901" cy="54886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88301" y="3799332"/>
            <a:ext cx="640080" cy="7840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48022"/>
            <a:ext cx="1371600" cy="7840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Extended Abstract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65960" y="4865636"/>
            <a:ext cx="3901287" cy="54886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965960" y="4865636"/>
            <a:ext cx="2145708" cy="54886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03108" y="4748022"/>
            <a:ext cx="640080" cy="7840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55%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2356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Orijentaciono, N=80 anotiranih pitanja iz 4 lekcije OS-a (2 clana tima + 1 nezavisni recenzent). Brojke se prosiruju u publikaciji.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Sta vidimo u rezultatima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8727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Validnost odgovora pada sa porastom SOLO nivoa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Distraktori postaju manje uverljivi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EA: cesto se 'distraktor' moze odbraniti kao tacan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STRUKTURNA POSLEDICA - NIJE BUG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Lister et al. (2006): EA zadaci su strukturalno tesko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i za STUDENTE programiranja - nije iznenadjenje da i LLM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tu zaostaje. Razlog je isti: transfer izmedju konteksta.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POSLEDICA ZA SISTEM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Two-pass + typed distractors pomazu, ne resavaju potpuno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Ontology anchor stabilizuje relacionalna pitanja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Na EA nivou - obavezna recenzija nastavnika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42 / 62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PRIMERI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Primeri SOLO pitanja iz domena Operativnih sistema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Primeri pitanja po SOLO nivoima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01952"/>
            <a:ext cx="11094415" cy="964692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901952"/>
            <a:ext cx="109728" cy="96469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UNISTRUCTURAL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993392"/>
            <a:ext cx="853409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Q: Koja struktura procesa cuva PID?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496312"/>
            <a:ext cx="8534095" cy="3246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1F2937"/>
                </a:solidFill>
                <a:latin typeface="Calibri"/>
              </a:rPr>
              <a:t>A: PCB - Process Control Block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03804"/>
            <a:ext cx="11094415" cy="964692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3003804"/>
            <a:ext cx="109728" cy="96469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3095244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MULTISTRUCTURAL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095244"/>
            <a:ext cx="853409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Q: Koja tri stanja procesa najcesce prepoznajemo?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598164"/>
            <a:ext cx="8534095" cy="3246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1F2937"/>
                </a:solidFill>
                <a:latin typeface="Calibri"/>
              </a:rPr>
              <a:t>A: Ready, Running, Blocked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05656"/>
            <a:ext cx="11094415" cy="964692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4105656"/>
            <a:ext cx="109728" cy="96469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197096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RELATIONAL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197096"/>
            <a:ext cx="853409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Q: Kako kontekstno prebacivanje uticne na throughput sistema?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4700016"/>
            <a:ext cx="8534095" cy="3246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1F2937"/>
                </a:solidFill>
                <a:latin typeface="Calibri"/>
              </a:rPr>
              <a:t>A: Povecava overhead, smanjuje koristan rad CPU-a.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207508"/>
            <a:ext cx="11094415" cy="964692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5207508"/>
            <a:ext cx="109728" cy="96469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5298948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EXTENDED ABSTRACT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5298948"/>
            <a:ext cx="853409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Q: Kako biste prilagodili scheduling algoritam za real-time sistem sa zagarantovanim deadline-om?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5801868"/>
            <a:ext cx="8534095" cy="3246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1F2937"/>
                </a:solidFill>
                <a:latin typeface="Calibri"/>
              </a:rPr>
              <a:t>A: EDF / RM, prioritet po roku, preemption, ...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43 / 62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LUKA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Luka - Bloomova pokrivenost generisanih kurseva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Vidimo gde sistem dobro pokriva nivoe, a gde tek 'dotice' visa misljenja.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Bloomova pokrivenost (Luka)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METRIKA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Da li su zastupljeni svi Bloomovi nivoi?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Koliko aktivnosti po nivou?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Da li su ishodi mapirani na vise od jednog nivoa?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PRISTUP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LLM eksplicitno trazi po svakom nivou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Sistem ne prelazi na sledeci nivo dok prethodni nije mapiran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Dedup po (ishod, aktivnost_tip)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NALAZ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Najbolji rezultati: Pamtiti i Razumeti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Slabiji: Evaluirati i Kreirati - cesto se 'dotiknu' samo povrsno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444752"/>
            <a:ext cx="5364327" cy="4727448"/>
          </a:xfrm>
          <a:prstGeom prst="rect">
            <a:avLst/>
          </a:prstGeom>
          <a:solidFill>
            <a:srgbClr val="EEEF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78727" y="3442716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2000" b="1" i="0">
                <a:solidFill>
                  <a:srgbClr val="4B5563"/>
                </a:solidFill>
                <a:latin typeface="Calibri"/>
              </a:rPr>
              <a:t>[ Slika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3854196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4B5563"/>
                </a:solidFill>
                <a:latin typeface="Calibri"/>
              </a:rPr>
              <a:t>Bar chart - broj aktivnosti po Bloomovom nivou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44 / 62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STEFAN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Stefan - robustnost izvrsenja video tutorijala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Vision modeli su odlicni, ali ne savrseni - non-standard UI je glavna bolna tacka.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UI detekcija - sta sve moze da pukne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VISION MODEL: QWEN 2.5 VL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Trazi UI element po opisu (lokacija + box)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OGRANICENJA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Non-standard UI frameworks (custom controls)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Brzo menjajuce interfejse (animacije, lazy load)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Nizak kontrast / non-English labele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Multi-monitor setup - samo primarni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POSLEDICE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Step fail - sistem zaustavlja izvrsenje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Video se zavrsava 'kratko' (do tacke prekida)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Logujemo gde je tacno puklo - olaksava debug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Testirane aplikacije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1901952"/>
            <a:ext cx="5364327" cy="47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78727" y="1901952"/>
            <a:ext cx="73152" cy="4724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61607" y="1901952"/>
            <a:ext cx="3218596" cy="472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Visual Studio 2022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4610" y="1901952"/>
            <a:ext cx="1931157" cy="472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500" b="0" i="0">
                <a:solidFill>
                  <a:srgbClr val="1B365D"/>
                </a:solidFill>
                <a:latin typeface="Calibri"/>
              </a:rPr>
              <a:t>Stabilno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8727" y="2429256"/>
            <a:ext cx="5364327" cy="47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78727" y="2429256"/>
            <a:ext cx="73152" cy="4724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61607" y="2429256"/>
            <a:ext cx="3218596" cy="472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VS 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4610" y="2429256"/>
            <a:ext cx="1931157" cy="472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500" b="0" i="0">
                <a:solidFill>
                  <a:srgbClr val="1B365D"/>
                </a:solidFill>
                <a:latin typeface="Calibri"/>
              </a:rPr>
              <a:t>Stabilno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8727" y="2956560"/>
            <a:ext cx="5364327" cy="47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78727" y="2956560"/>
            <a:ext cx="73152" cy="4724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61607" y="2956560"/>
            <a:ext cx="3218596" cy="472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Chrome / Firefox / Edge / Opera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4610" y="2956560"/>
            <a:ext cx="1931157" cy="472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500" b="0" i="0">
                <a:solidFill>
                  <a:srgbClr val="1B365D"/>
                </a:solidFill>
                <a:latin typeface="Calibri"/>
              </a:rPr>
              <a:t>Stabilno (web)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3483864"/>
            <a:ext cx="5364327" cy="47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78727" y="3483864"/>
            <a:ext cx="73152" cy="4724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61607" y="3483864"/>
            <a:ext cx="3218596" cy="472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Notepad / Notepad++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4610" y="3483864"/>
            <a:ext cx="1931157" cy="472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500" b="0" i="0">
                <a:solidFill>
                  <a:srgbClr val="1B365D"/>
                </a:solidFill>
                <a:latin typeface="Calibri"/>
              </a:rPr>
              <a:t>Stabilno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727" y="4011168"/>
            <a:ext cx="5364327" cy="47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78727" y="4011168"/>
            <a:ext cx="73152" cy="47244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61607" y="4011168"/>
            <a:ext cx="3218596" cy="472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Custom WinForms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4610" y="4011168"/>
            <a:ext cx="1931157" cy="472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500" b="0" i="0">
                <a:solidFill>
                  <a:srgbClr val="C25700"/>
                </a:solidFill>
                <a:latin typeface="Calibri"/>
              </a:rPr>
              <a:t>Nestabilno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78727" y="4538472"/>
            <a:ext cx="5364327" cy="47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78727" y="4538472"/>
            <a:ext cx="73152" cy="47244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61607" y="4538472"/>
            <a:ext cx="3218596" cy="472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Web app sa lazy UI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4610" y="4538472"/>
            <a:ext cx="1931157" cy="472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500" b="0" i="0">
                <a:solidFill>
                  <a:srgbClr val="C25700"/>
                </a:solidFill>
                <a:latin typeface="Calibri"/>
              </a:rPr>
              <a:t>Nestabilno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78727" y="5202936"/>
            <a:ext cx="5364327" cy="877824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78727" y="5202936"/>
            <a:ext cx="91440" cy="877824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61607" y="5257800"/>
            <a:ext cx="50900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BENCHMARK REFERENCA - OSWorld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5532120"/>
            <a:ext cx="5090007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Anthropic Computer Use (10/2024): 14.9%   |   Claude 3.5 Sonnet (12/2024): ~22%   |   Najbolji open-source vision agent: ~12%.
Nas pristup nije autonomni agent vec eksplicitan plan - izbegavamo open-ended trazenje sledeceg klika.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45 / 62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PDF Coverage Tracking - heatmap pokrivenosti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Sistem sam ti kaze gde da generises jos pitanja.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PDF Coverage Tracking (Uros)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STA MERI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Koje su stranice PDF-a pokrivene pitanjima?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Ponderisana pokrivenost po broju znakova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Sustinska pokrivenost (izuzima skoro prazne stranice)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VIZUALNO - HEATMAP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Bar po stranici, visina = broj znakova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Boja = da li je stranica pokrivena pitanjima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Lista sustinskih stranica bez pitanja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POSLEDICA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Sistem ti sam kaze gde da generises jos pitanja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Heatmap je 'second pair of eyes' za nastavnika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444752"/>
            <a:ext cx="5364327" cy="4727448"/>
          </a:xfrm>
          <a:prstGeom prst="rect">
            <a:avLst/>
          </a:prstGeom>
          <a:solidFill>
            <a:srgbClr val="EEEF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78727" y="3442716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2000" b="1" i="0">
                <a:solidFill>
                  <a:srgbClr val="4B5563"/>
                </a:solidFill>
                <a:latin typeface="Calibri"/>
              </a:rPr>
              <a:t>[ Slika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3854196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4B5563"/>
                </a:solidFill>
                <a:latin typeface="Calibri"/>
              </a:rPr>
              <a:t>Coverage heatmap - screenshot iz UI-ja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46 / 62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HITL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Granice automatizacije i human-in-the-loop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Sistem snima 80% rada; covek validira i fino podesava.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Granice automatizacije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Definisanje ishoda - zahteva pedagosku procenu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Procena tezine pitanja u kontekstu grupe - dinamicki kontekst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Procena EA pitanja - cesto dvosmislena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Recenzija video tutorijala - da li je didakticki dobar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Konacno korigovanje halucinacija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SVE OVO RADI - COVEK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Sistem snima pripremu (do 80% rada)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Covek validira i fino podesava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Human-in-the-loop u nasem pipeline-u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1901952"/>
            <a:ext cx="5364327" cy="98526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78727" y="1901952"/>
            <a:ext cx="73152" cy="98526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07327" y="1993392"/>
            <a:ext cx="5090007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1. Sistem generise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313432"/>
            <a:ext cx="5090007" cy="5280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Struktura, pitanja, video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8727" y="2996946"/>
            <a:ext cx="5364327" cy="98526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78727" y="2996946"/>
            <a:ext cx="73152" cy="985266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07327" y="3088386"/>
            <a:ext cx="5090007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2. Nastavnik pregleda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3408426"/>
            <a:ext cx="5090007" cy="5280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source_line + ontology anchor + coverage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8727" y="4091940"/>
            <a:ext cx="5364327" cy="98526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78727" y="4091940"/>
            <a:ext cx="73152" cy="98526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07327" y="4183380"/>
            <a:ext cx="5090007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3. Nastavnik koriguje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7327" y="4503420"/>
            <a:ext cx="5090007" cy="5280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Edituje pitanja, rasporedjuje aktivnosti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5186934"/>
            <a:ext cx="5364327" cy="98526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78727" y="5186934"/>
            <a:ext cx="73152" cy="985266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07327" y="5278374"/>
            <a:ext cx="5090007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4. Sistem belezi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7327" y="5598414"/>
            <a:ext cx="5090007" cy="5280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Promene u DB - feedback za buduce generisanje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47 / 62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KLJUCNA PORUKA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Kljucna poruka segmenta 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10512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C25700"/>
                </a:solidFill>
                <a:latin typeface="Calibri"/>
              </a:rPr>
              <a:t>Kljucna poruka segmenta C</a:t>
            </a:r>
          </a:p>
        </p:txBody>
      </p:sp>
      <p:sp>
        <p:nvSpPr>
          <p:cNvPr id="6" name="Rectangle 5"/>
          <p:cNvSpPr/>
          <p:nvPr/>
        </p:nvSpPr>
        <p:spPr>
          <a:xfrm>
            <a:off x="1380721" y="2450592"/>
            <a:ext cx="9430252" cy="237744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380721" y="2450592"/>
            <a:ext cx="9430252" cy="300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746481" y="2816352"/>
            <a:ext cx="8698732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0" i="1">
                <a:solidFill>
                  <a:srgbClr val="1B365D"/>
                </a:solidFill>
                <a:latin typeface="Calibri"/>
              </a:rPr>
              <a:t>Kvalitet automatski generisanog sadrzaja opada sa porastom kognitivne slozenosti - to nije bug, vec strukturna posledica, i upravo zato je human-in-the-loop obavezan.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48 / 62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219456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5C060"/>
                </a:solidFill>
                <a:latin typeface="Calibri"/>
              </a:rPr>
              <a:t>SEGMENT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Sinteza, buduci rad, zakljucak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160520"/>
            <a:ext cx="1371600" cy="40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4343400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D1D5DB"/>
                </a:solidFill>
                <a:latin typeface="Calibri"/>
              </a:rPr>
              <a:t>Kako tri komponente postaju jedan sistem - i sta sledi.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C4C9D4"/>
                </a:solidFill>
                <a:latin typeface="Calibri"/>
              </a:rPr>
              <a:t>10-15 min  /  7 slajdova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D - ARHITEKTURA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Predlog integrisane arhitekture - 4 sloja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Sloj po sloj: planiranje -&gt; znanje -&gt; procena -&gt; demonstracija.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Integrisana arhitektura - predlog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SLOJ 1 - COURSE PLANNER (LUKA)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Strukturu kursa generise iz ishoda + PDF-a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Izlaz: JSON / OWL hijerarhija aktivnosti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SLOJ 2 - KNOWLEDGE LAYER (UROS)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ConceptRelationship ontologija iz lekcija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Source-of-truth za relacije pojmova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SLOJ 3 - ASSESSMENT (UROS)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SOLO pitanja, ankored na knowledge layer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SLOJ 4 - DEMONSTRATION (STEFAN)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Praktiche aktivnosti -&gt; NL instrukcija -&gt; video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444752"/>
            <a:ext cx="5364327" cy="953262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78727" y="1444752"/>
            <a:ext cx="109728" cy="953262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07327" y="1536192"/>
            <a:ext cx="34868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1. Course Planner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33756" y="1536192"/>
            <a:ext cx="150201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1" i="0">
                <a:solidFill>
                  <a:srgbClr val="C25700"/>
                </a:solidFill>
                <a:latin typeface="Calibri"/>
              </a:rPr>
              <a:t>LUKA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1901952"/>
            <a:ext cx="5044287" cy="4960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Ulaz: ishodi + PDF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8823731" y="2416302"/>
            <a:ext cx="274320" cy="237744"/>
          </a:xfrm>
          <a:prstGeom prst="downArrow">
            <a:avLst/>
          </a:prstGeom>
          <a:solidFill>
            <a:srgbClr val="C25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78727" y="2672334"/>
            <a:ext cx="5364327" cy="953262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78727" y="2672334"/>
            <a:ext cx="109728" cy="953262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7327" y="2763774"/>
            <a:ext cx="34868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2. Knowledge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3756" y="2763774"/>
            <a:ext cx="150201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1" i="0">
                <a:solidFill>
                  <a:srgbClr val="C25700"/>
                </a:solidFill>
                <a:latin typeface="Calibri"/>
              </a:rPr>
              <a:t>UROS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7327" y="3129534"/>
            <a:ext cx="5044287" cy="4960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ConceptRelationship ontologija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8823731" y="3643884"/>
            <a:ext cx="274320" cy="237744"/>
          </a:xfrm>
          <a:prstGeom prst="downArrow">
            <a:avLst/>
          </a:prstGeom>
          <a:solidFill>
            <a:srgbClr val="C25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78727" y="3899916"/>
            <a:ext cx="5364327" cy="953262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78727" y="3899916"/>
            <a:ext cx="109728" cy="95326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07327" y="3991356"/>
            <a:ext cx="34868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3. Assessment + Demonstration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33756" y="3991356"/>
            <a:ext cx="150201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1" i="0">
                <a:solidFill>
                  <a:srgbClr val="C25700"/>
                </a:solidFill>
                <a:latin typeface="Calibri"/>
              </a:rPr>
              <a:t>UROS + STEFAN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7327" y="4357116"/>
            <a:ext cx="5044287" cy="4960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SOLO pitanja  |  OWL-validiran video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8823731" y="4871466"/>
            <a:ext cx="274320" cy="237744"/>
          </a:xfrm>
          <a:prstGeom prst="downArrow">
            <a:avLst/>
          </a:prstGeom>
          <a:solidFill>
            <a:srgbClr val="C25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78727" y="5127498"/>
            <a:ext cx="5364327" cy="953262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278727" y="5127498"/>
            <a:ext cx="109728" cy="953262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07327" y="5218938"/>
            <a:ext cx="34868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4. Human-in-the-loop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33756" y="5218938"/>
            <a:ext cx="150201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1" i="0">
                <a:solidFill>
                  <a:srgbClr val="C25700"/>
                </a:solidFill>
                <a:latin typeface="Calibri"/>
              </a:rPr>
              <a:t>NASTAVNIK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5584698"/>
            <a:ext cx="5044287" cy="4960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Recenzija, korekcija, 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50 / 62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D - ARHITEKTURA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Tok podataka kroz integrisan sistem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Sest koraka, od ucitavanja materijala do recenzije nastavnika.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Tok podataka kroz integrisan sistem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01952"/>
            <a:ext cx="11094415" cy="63550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901952"/>
            <a:ext cx="640080" cy="63550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901952"/>
            <a:ext cx="640080" cy="6355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947672"/>
            <a:ext cx="1018001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Nastavnik ucitava materijal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267712"/>
            <a:ext cx="10180015" cy="269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PDF lekcije, lista ishoda, opis kursa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628900"/>
            <a:ext cx="11094415" cy="6355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" y="2628900"/>
            <a:ext cx="640080" cy="63550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2628900"/>
            <a:ext cx="640080" cy="6355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2674620"/>
            <a:ext cx="1018001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Course Planner gradi strukturu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994660"/>
            <a:ext cx="10180015" cy="269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Moduli -&gt; koncepti -&gt; ishodi -&gt; aktivnosti (Bloom-aware)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55848"/>
            <a:ext cx="11094415" cy="63550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3355848"/>
            <a:ext cx="640080" cy="63550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3355848"/>
            <a:ext cx="640080" cy="6355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401568"/>
            <a:ext cx="1018001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Knowledge Layer ekstrahuje ontologiju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3721608"/>
            <a:ext cx="10180015" cy="269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Multi-pass LLM ekstrakcija ConceptRelationship-ova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082796"/>
            <a:ext cx="11094415" cy="6355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4082796"/>
            <a:ext cx="640080" cy="63550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4082796"/>
            <a:ext cx="640080" cy="6355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128516"/>
            <a:ext cx="1018001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Assessment generise SOLO pitanja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448556"/>
            <a:ext cx="10180015" cy="269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Anchor iz Knowledge Layer-a, PS4 prompt, source_line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09744"/>
            <a:ext cx="11094415" cy="63550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48640" y="4809744"/>
            <a:ext cx="640080" cy="63550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8640" y="4809744"/>
            <a:ext cx="640080" cy="6355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4855464"/>
            <a:ext cx="1018001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Demonstration generise video za prakticnu aktivnost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5175504"/>
            <a:ext cx="10180015" cy="269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NL instrukcija -&gt; OWL plan -&gt; validacija -&gt; izvrsenje + snimanje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536692"/>
            <a:ext cx="11094415" cy="6355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8640" y="5536692"/>
            <a:ext cx="640080" cy="63550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5536692"/>
            <a:ext cx="640080" cy="6355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5582412"/>
            <a:ext cx="1018001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Nastavnik pregleda i koriguje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5880" y="5902452"/>
            <a:ext cx="10180015" cy="269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Coverage heatmap, source_line provera, video review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51 / 62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D - VEZE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Veze sa drugim temama predmeta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DRL i Recommender Systems prirodno produzavaju ovaj pipeline.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5410047" cy="4636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5410047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49528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Deep Reinforcement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21992"/>
            <a:ext cx="49528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C25700"/>
                </a:solidFill>
                <a:latin typeface="Calibri"/>
              </a:rPr>
              <a:t>Adaptivno biranje pitanja i puta ucenja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587752"/>
            <a:ext cx="54864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770632"/>
            <a:ext cx="4952847" cy="3127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State: profil studenta + istorija odgovora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Action: izbor narednog pitanja / aktivnosti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Reward: napredak na SOLO / Bloomovoj skali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Veza sa temom DRL for ITS sa liste predmeta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444752"/>
            <a:ext cx="5410047" cy="4636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33007" y="1444752"/>
            <a:ext cx="5410047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61607" y="1719072"/>
            <a:ext cx="49528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Recommender Systems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1607" y="2221992"/>
            <a:ext cx="495284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C25700"/>
                </a:solidFill>
                <a:latin typeface="Calibri"/>
              </a:rPr>
              <a:t>Personalizacija puteva ucenja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61607" y="2587752"/>
            <a:ext cx="54864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61607" y="2770632"/>
            <a:ext cx="4952847" cy="3127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Sadrzaj-based: ontology anchor sluzi kao feature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Collaborative: studenti sa slicnim odgovorima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Hibridno: koristi obe signala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Veza sa temom Recommenders for 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52 / 62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D - BUDUCI RAD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Otvorena pitanja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Otvorena pitanja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01952"/>
            <a:ext cx="11094415" cy="766267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901952"/>
            <a:ext cx="457200" cy="76626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901952"/>
            <a:ext cx="457200" cy="76626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47672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Kvalitet distraktora na EA nivou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67712"/>
            <a:ext cx="10362895" cy="4005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Kako podici uverljivost bez gubitka SOLO 'tipa' greske?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77947"/>
            <a:ext cx="11094415" cy="766267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777947"/>
            <a:ext cx="457200" cy="76626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777947"/>
            <a:ext cx="457200" cy="76626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23667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Real-world evaluacija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143707"/>
            <a:ext cx="10362895" cy="4005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Sistem nije jos testiran u stvarnoj ucionici - to je sledeci korak.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653942"/>
            <a:ext cx="11094415" cy="766267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3653942"/>
            <a:ext cx="457200" cy="76626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3653942"/>
            <a:ext cx="457200" cy="76626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699662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Multimodalna procena znanja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019702"/>
            <a:ext cx="10362895" cy="4005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Kako uracunati ne samo tekstualne odgovore vec i prakticne demonstracije?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529937"/>
            <a:ext cx="11094415" cy="766267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4529937"/>
            <a:ext cx="457200" cy="76626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4529937"/>
            <a:ext cx="457200" cy="76626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Q4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575657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Stabilnost vision modela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895697"/>
            <a:ext cx="10362895" cy="4005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Custom UI ostaju izazov; integracija sa accessibility API-jima?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405932"/>
            <a:ext cx="11094415" cy="766267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5405932"/>
            <a:ext cx="457200" cy="76626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5405932"/>
            <a:ext cx="457200" cy="76626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Q5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451652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Skaliranje na vise predmeta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771692"/>
            <a:ext cx="10362895" cy="4005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Da li se ontologija prenosi izmedju domena ili je svaki predmet svoja TBox?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53 / 62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D - ETIKA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Etika, privatnost i EU AI 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Obrazovni AI je high-risk po EU AI Act-u - nas dizajn vec adresira kljucne zahteve.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3545738" cy="42702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3545738" cy="73152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1673352"/>
            <a:ext cx="314340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Privatnost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130552"/>
            <a:ext cx="314340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1B365D"/>
                </a:solidFill>
                <a:latin typeface="Calibri"/>
              </a:rPr>
              <a:t>Lokalni LLM (Ollama) nije slucajan izbor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2770632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2935224"/>
            <a:ext cx="3143402" cy="2779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PDF nastavnog materijala cesto sadrzi IP fakulteta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Studentski podaci ne napustaju masinu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Zero per-call cost - skalabilno za institucije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1444752"/>
            <a:ext cx="3545738" cy="42702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22978" y="1444752"/>
            <a:ext cx="354573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4146" y="1673352"/>
            <a:ext cx="314340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Transparentnost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4146" y="2130552"/>
            <a:ext cx="314340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C25700"/>
                </a:solidFill>
                <a:latin typeface="Calibri"/>
              </a:rPr>
              <a:t>source_line + ontology anchor = audit trail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4146" y="2770632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4146" y="2935224"/>
            <a:ext cx="3143402" cy="2779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Svako pitanje ima izvorni navod iz materijala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Svaka relacija ima tipiziranu vezu u ontologiji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Recenzent moze da prati 'zasto' iza svake odluke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7316" y="1444752"/>
            <a:ext cx="3545738" cy="42702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7316" y="1444752"/>
            <a:ext cx="3545738" cy="73152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98484" y="1673352"/>
            <a:ext cx="314340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EU AI Act (2024/2025)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8484" y="2130552"/>
            <a:ext cx="314340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1B365D"/>
                </a:solidFill>
                <a:latin typeface="Calibri"/>
              </a:rPr>
              <a:t>Obrazovni AI je klasifikovan kao high-risk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98484" y="2770632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98484" y="2935224"/>
            <a:ext cx="3143402" cy="2779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Striktna transparentnost: dokumentovati izvore i logiku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Obavezan ljudski oversight (human-in-the-loop)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Audit trail - ono sto nas dizajn vec ima 'iz kutije'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806440"/>
            <a:ext cx="1109441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1">
                <a:solidFill>
                  <a:srgbClr val="4B5563"/>
                </a:solidFill>
                <a:latin typeface="Calibri"/>
              </a:rPr>
              <a:t>Nas dizajn nije optimizovan za AI Act - ali ga zadovoljava prirodno, zbog izbora ontology grounding-a i lokalnih modela.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54 / 62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D - BUDUCI RAD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Naredni koraci - kratki i duzi rok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Naredni koraci - kratki rok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Spojiti tri repozitorijuma u jedan monorepo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Definisati API kontrakte izmedju slojeva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Zajednicka ontoloska osnova (deljena seed_ontology)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Demo end-to-end pipe za jedan predmet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KONFERENCIJA SINTEZA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Jedan rad iz tima vec publikovan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Cilj: drugi rad o integraciji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Naredni koraci - duzi rok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901952"/>
            <a:ext cx="5364327" cy="417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Pilot u stvarnoj ucionici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Adaptivno biranje pitanja (DRL prototip)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Personalizacija puta ucenja (Recommender)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Multimodalna procena znanja (audio / kod / video)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Skaliranje na vise predmeta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ETIKA I PRIVATNOST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Lokalni LLM kao osnovna opcija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Pravo nastavnika na konacnu rec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55 / 62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D - ZAKLJUCAK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Zakljucak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Vracamo se na pocetnu poruku.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C25700"/>
                </a:solidFill>
                <a:latin typeface="Calibri"/>
              </a:rPr>
              <a:t>Sta smo pokazali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84832"/>
            <a:ext cx="11094415" cy="78409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2084832"/>
            <a:ext cx="91440" cy="78409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176272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LLM sam nije dovoljan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96312"/>
            <a:ext cx="10728655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halucinacije + nedostatak strukture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33522"/>
            <a:ext cx="11094415" cy="78409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3033522"/>
            <a:ext cx="91440" cy="78409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3124962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Pedagoska taksonomija kalibrise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45002"/>
            <a:ext cx="10728655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Bloom + SOLO kao kompas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82212"/>
            <a:ext cx="11094415" cy="78409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3982212"/>
            <a:ext cx="91440" cy="78409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4073652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Ontologija filtrira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93692"/>
            <a:ext cx="10728655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OWL/SPARQL + source_line + ontology anchor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930902"/>
            <a:ext cx="11094415" cy="78409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48640" y="4930902"/>
            <a:ext cx="91440" cy="78409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5022342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Human-in-the-loop ostaje obavezan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342382"/>
            <a:ext cx="10728655" cy="326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narocito na visim SOLO nivoima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56 / 62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00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ZAKLJUCNA MISAO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194560"/>
            <a:ext cx="9448495" cy="2743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0" i="1">
                <a:solidFill>
                  <a:srgbClr val="1B365D"/>
                </a:solidFill>
                <a:latin typeface="Calibri"/>
              </a:rPr>
              <a:t>“LLM + ontologija + pedagoska taksonomija = pouzdano, pedagoski kalibrisano ITS okruzenje koje je vise od zbira svojih delova.”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029200"/>
            <a:ext cx="94484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4B5563"/>
                </a:solidFill>
                <a:latin typeface="Calibri"/>
              </a:rPr>
              <a:t>- kljucna poruka prezentacije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57 / 62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2560320"/>
            <a:ext cx="1063721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Hvala na paznji.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207" y="3840480"/>
            <a:ext cx="1097280" cy="40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0"/>
            <a:ext cx="1063721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i="1">
                <a:solidFill>
                  <a:srgbClr val="E5E7EB"/>
                </a:solidFill>
                <a:latin typeface="Calibri"/>
              </a:rPr>
              <a:t>Pitanja i diskusija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C4C9D4"/>
                </a:solidFill>
                <a:latin typeface="Calibri"/>
              </a:rPr>
              <a:t>Uros Petraskovic - Luka Saric - Stefan Lazarevic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LITERATURA - 1 /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Literatura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Pedagoske taksonomije i LLM u obrazovanju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Pedagoske taksonomije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Bloom, B.S. (1984). The 2 Sigma Problem. Educational Researcher, 13(6), 4-16.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03704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Biggs, J.B. &amp; Collis, K.F. (1982). Evaluating the Quality of Learning: The SOLO Taxonomy. Academic Press.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42616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Anderson, L.W. &amp; Krathwohl, D.R. (2001). A Taxonomy for Learning, Teaching, and Assessing. Longman.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81528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Lister, R., et al. (2006). Not Seeing the Forest for the Trees: Novice Programmers and the SOLO Taxonomy. ACM SIGCSE Bulletin, 38(3).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611880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LLM u obrazovanju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Kasneci, E., et al. (2023). ChatGPT for good? Learning and Individual Differences, 103.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70832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Yan, L., et al. (2024). Practical and ethical challenges of LLMs in education. BJET, 55(1).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09744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Wang, S., et al. (2024). Large Language Models for Education: A Survey. arXiv:2403.18105.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248656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Kestin, G., et al. (2024). AI Tutoring Outperforms In-Class Active Learning. Preprint, PhysPort.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87568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Mollick, E. &amp; Mollick, L. (2023). Assigning AI: Seven Approaches for Students. Wharton, SSRN 4475995.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59 / 62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LITERATURA - 2 /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Literatura (nastavak)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Prompting strategije, QG i misconception theory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Prompting i generisanje pitanja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Scaria, N., et al. (2024). PS4 - Automated Educational QG at Bloom's Skill Levels. arXiv:2408.04394.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03704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Wei, J., et al. (2022). Chain-of-Thought Prompting Elicits Reasoning in LLMs. NeurIPS 2022. arXiv:2201.11903.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42616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Sweller, J. &amp; Cooper, G.A. (1985). The use of worked examples as a substitute for problem solving. Cognition &amp; Instruction 2(1).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81528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Wang, X., et al. (2023). Self-Consistency Improves CoT Reasoning. ICLR 2023. arXiv:2203.11171.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0440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Kurdi, G., et al. (2020). A Systematic Review of Automatic Question Generation. IJAIED, 30(1).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50792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Distractor generation i misconception theory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70832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Bitew, S.K., et al. (2023). Distractor Generation with Predictive Prompting and LLMs. arXiv:2307.16338.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09744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Sadler, P.M. (1998). Psychometric Models of Student Conceptions in Science. JRST, 35(3).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248656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Liang, C., et al. (2018). Distractor Generation for MCQ Using Learning to Rank. NAACL Workshop.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87568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Aldabe, I., et al. (2009). Automatic Distractor Generation for Domain Specific Texts. LNCS 6233.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60 / 62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LITERATURA - 3 /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Literatura (nastavak)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Anti-halucinacija, RAG, item analysis i psihometrija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Anti-halucinacija i 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Lewis, P., et al. (2020). Retrieval-Augmented Generation for Knowledge-Intensive NLP. NeurIPS 2020. arXiv:2005.11401.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03704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Dhuliawala, S., et al. (2023). Chain-of-Verification (CoVe). ACL Findings 2024. arXiv:2309.11495.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42616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Pal, A., et al. (2023). Med-HALT: Medical Domain Hallucination Test for LLMs. CoNLL 2023.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81528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Zhang, T., et al. (2020). BERTScore: Evaluating Text Generation with BERT. ICLR 2020. arXiv:1904.09675.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0440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Zheng, L., et al. (2023). Judging LLM-as-a-Judge with MT-Bench. NeurIPS 2023. arXiv:2306.05685.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50792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Item analysis i psihometrija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70832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Haladyna, T.M., Downing, S.M. &amp; Rodriguez, M.C. (2002). MCQ Item-Writing Guidelines. Applied Measurement in Education, 15(3).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09744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Rovinelli, R.J. &amp; Hambleton, R.K. (1977). Item-Objective Congruence (IOC). Dutch Journal of Educational Research, 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248656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Crocker, L. &amp; Algina, J. (1986). Introduction to Classical and Modern Test Theory. Holt, Rinehart and Winston.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87568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Landis, J.R. &amp; Koch, G.G. (1977). Observer Agreement for Categorical Data (Cohen's kappa). Biometrics, 33(1).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126480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Tarrant, M., et al. (2009). Item writing flaws in MCQs in high-stakes nursing assessments. Nurse Education in Practice, 9(3).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61 / 62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LITERATURA - 4 /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Literatura (nastavak)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Ontologije, ITS i multimodalni agenti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Ontologije i Semantic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Lin, C.-Y., et al. (2025). KAQG: Knowledge-Graph-Enhanced RAG for Difficulty-Controlled QG. arXiv:2505.07618.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03704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Vesin, B., et al. (2013). Ontology-based architecture with recommendation strategy in Java tutoring (ProTuS). CSIS, 10(1).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42616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Hogan, A., et al. (2021). Knowledge Graphs. ACM Computing Surveys, 54(4).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72968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Intelligent Tutoring Systems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93008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Mousavinasab, E., et al. (2021). ITS: systematic review. Interactive Learning Environments, 29(1).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Lin, C.-C., et al. (2023). AI in ITS toward sustainable education. Smart Learning Environments, 10(1).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70832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VanLehn, K. (2011). The Relative Effectiveness of Human Tutoring, ITS, and Other Tutoring Systems. Educational Psychologist, 46(4).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901184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Multimodalni agenti i Computer 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221224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Anthropic (Oct 2024). Computer use model evaluation on OSWorld: 14.9% baseline.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0136"/>
            <a:ext cx="1091153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Xie, T., et al. (2024). OSWorld: Benchmarking Multimodal Agents for Open-Ended Tasks. NeurIPS 2024.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62 / 62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8307</Words>
  <Application>Microsoft Office PowerPoint</Application>
  <PresentationFormat>Widescreen</PresentationFormat>
  <Paragraphs>1241</Paragraphs>
  <Slides>61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Uros Petraskovic</cp:lastModifiedBy>
  <cp:revision>4</cp:revision>
  <dcterms:created xsi:type="dcterms:W3CDTF">2013-01-27T09:14:16Z</dcterms:created>
  <dcterms:modified xsi:type="dcterms:W3CDTF">2026-05-23T09:24:14Z</dcterms:modified>
  <cp:category/>
</cp:coreProperties>
</file>