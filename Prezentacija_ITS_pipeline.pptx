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NAPREDNE TEHNIKE RAČUNARSKE INTELIGENCIJE - MASTER, FTN 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72865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1B365D"/>
                </a:solidFill>
                <a:latin typeface="Calibri"/>
              </a:rPr>
              <a:t>Od ishoda učenja do automatizovanog ITS-a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383280"/>
            <a:ext cx="1097280" cy="30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35661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4B5563"/>
                </a:solidFill>
                <a:latin typeface="Calibri"/>
              </a:rPr>
              <a:t>LLM-driven pipeline za generisanje strukture kursa, video demonstracija i pitanja zasnovanih na SOLO taksonomiji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864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Tim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Calibri"/>
              </a:rPr>
              <a:t>Uroš Petrašković - Luka Šarić - Stefan Lazarević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Calibri"/>
              </a:rPr>
              <a:t>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Tim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Tri projekta sa predmeta SOTIS - jedan integrisan ITS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3515258" cy="445312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3515258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9069" y="1719072"/>
            <a:ext cx="914400" cy="914400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305805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365D"/>
                </a:solidFill>
                <a:latin typeface="Calibri"/>
              </a:rPr>
              <a:t>Uroš Petrašković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82112"/>
            <a:ext cx="30580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C25700"/>
                </a:solidFill>
                <a:latin typeface="Calibri"/>
              </a:rPr>
              <a:t>SOLO Quiz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39312"/>
            <a:ext cx="3058058" cy="2258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Generisanje pitanja po SOLO taksonomiji uz ontološki grounding i source-line citate.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444752"/>
            <a:ext cx="3515258" cy="445312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8218" y="1444752"/>
            <a:ext cx="3515258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38647" y="1719072"/>
            <a:ext cx="914400" cy="914400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LŠ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816352"/>
            <a:ext cx="305805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365D"/>
                </a:solidFill>
                <a:latin typeface="Calibri"/>
              </a:rPr>
              <a:t>Luka Šarić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3182112"/>
            <a:ext cx="30580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C25700"/>
                </a:solidFill>
                <a:latin typeface="Calibri"/>
              </a:rPr>
              <a:t>Course Structure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3639312"/>
            <a:ext cx="3058058" cy="2258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Automatska struktura kursa po Bloomovoj taksonomiji - moduli, koncepti, ishodi.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7796" y="1444752"/>
            <a:ext cx="3515258" cy="445312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27796" y="1444752"/>
            <a:ext cx="3515258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428225" y="1719072"/>
            <a:ext cx="914400" cy="914400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2816352"/>
            <a:ext cx="305805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365D"/>
                </a:solidFill>
                <a:latin typeface="Calibri"/>
              </a:rPr>
              <a:t>Stefan Lazarević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3182112"/>
            <a:ext cx="30580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C25700"/>
                </a:solidFill>
                <a:latin typeface="Calibri"/>
              </a:rPr>
              <a:t>Computer Use Video Tutorials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396" y="3639312"/>
            <a:ext cx="3058058" cy="2258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Video demonstracije praktičkih zadataka uz OWL validaciju izvršnog plana.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Predmet i kontekst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Napredne tehnike računarske inteligencije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5364327" cy="4727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PREDMET: NAPREDNE TEHNIKE RAČUNARSKE INTELIGENCIJE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Master studije, FTN Univerzitet u Novom Sadu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Predavači: dr Prokić i dr Kovačević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TEMA U PRESEKU DVE OBLASTI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AI in (Computing) Education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Intelligent Tutoring Systems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FORMAT POLAGANJA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Snimljena prezentacija 1h - 1h30min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Demonstracija integrisanog ITS pipeline-a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78727" y="1444752"/>
            <a:ext cx="5364327" cy="4727448"/>
          </a:xfrm>
          <a:prstGeom prst="rect">
            <a:avLst/>
          </a:prstGeom>
          <a:solidFill>
            <a:srgbClr val="EEEF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78727" y="344271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000" b="1" i="0">
                <a:solidFill>
                  <a:srgbClr val="4B5563"/>
                </a:solidFill>
                <a:latin typeface="Calibri"/>
              </a:rPr>
              <a:t>[ Slika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385419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4B5563"/>
                </a:solidFill>
                <a:latin typeface="Calibri"/>
              </a:rPr>
              <a:t>Logo FTN-a / vizual predmeta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5 segmenata - tematska organizacija, ne po projektima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44752"/>
            <a:ext cx="109728" cy="85770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640080" cy="857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B365D"/>
                </a:solidFill>
                <a:latin typeface="Calibri"/>
              </a:rPr>
              <a:t>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490472"/>
            <a:ext cx="83512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Uvod i motivacija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01952"/>
            <a:ext cx="8351215" cy="40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Šta i zašto - od ishoda učenja do ITS-a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1444752"/>
            <a:ext cx="1737360" cy="857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700" b="1" i="0">
                <a:solidFill>
                  <a:srgbClr val="C25700"/>
                </a:solidFill>
                <a:latin typeface="Calibri"/>
              </a:rPr>
              <a:t>10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12187"/>
            <a:ext cx="109728" cy="85770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412187"/>
            <a:ext cx="640080" cy="857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B365D"/>
                </a:solidFill>
                <a:latin typeface="Calibri"/>
              </a:rPr>
              <a:t>01.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457907"/>
            <a:ext cx="83512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LLM prompting i taksonomije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69387"/>
            <a:ext cx="8351215" cy="40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Bloom, SOLO, PS4 prompting, hijerarhija zadataka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5695" y="2412187"/>
            <a:ext cx="1737360" cy="857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700" b="1" i="0">
                <a:solidFill>
                  <a:srgbClr val="C25700"/>
                </a:solidFill>
                <a:latin typeface="Calibri"/>
              </a:rPr>
              <a:t>25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79622"/>
            <a:ext cx="109728" cy="85770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379622"/>
            <a:ext cx="640080" cy="857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B365D"/>
                </a:solidFill>
                <a:latin typeface="Calibri"/>
              </a:rPr>
              <a:t>02.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25342"/>
            <a:ext cx="83512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Ontologije i formalni grounding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36822"/>
            <a:ext cx="8351215" cy="40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OWL, RDF, SPARQL i anti-halucinacioni mehanizmi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695" y="3379622"/>
            <a:ext cx="1737360" cy="857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700" b="1" i="0">
                <a:solidFill>
                  <a:srgbClr val="C25700"/>
                </a:solidFill>
                <a:latin typeface="Calibri"/>
              </a:rPr>
              <a:t>25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47057"/>
            <a:ext cx="109728" cy="85770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347057"/>
            <a:ext cx="640080" cy="857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B365D"/>
                </a:solidFill>
                <a:latin typeface="Calibri"/>
              </a:rPr>
              <a:t>03.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92777"/>
            <a:ext cx="83512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Evaluacija i ograničenja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804257"/>
            <a:ext cx="8351215" cy="40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Kvalitet po nivoima, robustnost, human-in-the-loop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5695" y="4347057"/>
            <a:ext cx="1737360" cy="857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700" b="1" i="0">
                <a:solidFill>
                  <a:srgbClr val="C25700"/>
                </a:solidFill>
                <a:latin typeface="Calibri"/>
              </a:rPr>
              <a:t>25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14492"/>
            <a:ext cx="109728" cy="85770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314492"/>
            <a:ext cx="640080" cy="857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B365D"/>
                </a:solidFill>
                <a:latin typeface="Calibri"/>
              </a:rPr>
              <a:t>04.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360212"/>
            <a:ext cx="83512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Sinteza, budući rad, zaključak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771692"/>
            <a:ext cx="8351215" cy="40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Integrisana arhitektura i naredni koraci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5695" y="5314492"/>
            <a:ext cx="1737360" cy="8577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700" b="1" i="0">
                <a:solidFill>
                  <a:srgbClr val="C25700"/>
                </a:solidFill>
                <a:latin typeface="Calibri"/>
              </a:rPr>
              <a:t>10-15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C060"/>
                </a:solidFill>
                <a:latin typeface="Calibri"/>
              </a:rPr>
              <a:t>SEGMENT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Uvod i motivacija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60520"/>
            <a:ext cx="1371600" cy="40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D1D5DB"/>
                </a:solidFill>
                <a:latin typeface="Calibri"/>
              </a:rPr>
              <a:t>Polazimo od trenutnog stanja - šta nastavnik radi i zašto je to skupo.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4C9D4"/>
                </a:solidFill>
                <a:latin typeface="Calibri"/>
              </a:rPr>
              <a:t>10 min  /  4 slajda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0 - UVOD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Problem - šta nastavnik radi ručno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Vreme i kognitivni napor su jaka skala bola.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351525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73152" cy="192024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305805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C25700"/>
                </a:solidFill>
                <a:latin typeface="Calibri"/>
              </a:rPr>
              <a:t>~20%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30580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radnog vremena nastavnika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24912"/>
            <a:ext cx="305805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troši se na pripremu i administraciju (OECD TALIS 2018, prosek)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444752"/>
            <a:ext cx="351525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8218" y="1444752"/>
            <a:ext cx="73152" cy="192024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2538" y="1627632"/>
            <a:ext cx="305805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C25700"/>
                </a:solidFill>
                <a:latin typeface="Calibri"/>
              </a:rPr>
              <a:t>7-12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538" y="2404872"/>
            <a:ext cx="30580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nedeljno na pripremu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2724912"/>
            <a:ext cx="305805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van časa, samo na materijale (NCES 2019 Teacher Time Study)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7796" y="1444752"/>
            <a:ext cx="3515258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7796" y="1444752"/>
            <a:ext cx="73152" cy="192024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02116" y="1627632"/>
            <a:ext cx="305805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C25700"/>
                </a:solidFill>
                <a:latin typeface="Calibri"/>
              </a:rPr>
              <a:t>22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2404872"/>
            <a:ext cx="30580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po jednom MCQ pitanju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2724912"/>
            <a:ext cx="305805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sa distraktorima i mapiranjem na ishod (Walker et al., 2020)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3075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Šta nastavnik radi ručno?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42232"/>
            <a:ext cx="11094415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Planira strukturu kursa - module, koncepte, ishode učenja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Piše objašnjenja, primere, definicije - usaglašava ih sa nivoom studenata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Priprema praktične demonstracije, često u formi video tutorijala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Sastavlja pitanja na različitim kognitivnim nivoima - i tu nastaje uska grla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0 - UVOD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LLM otvara vrata, ali ne sam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Šta dobijemo - i šta sve uneso skripa.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LLM je otvorio vrata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56232"/>
            <a:ext cx="5364327" cy="4270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Generisanje sadržaja iz prirodno-jezičkog uputstva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Razlaganje kompleksnih zadataka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Brza iteracija i prilagođavanje materijala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Multimodalnost: tekst, kod, vizija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C25700"/>
                </a:solidFill>
                <a:latin typeface="Calibri"/>
              </a:rPr>
              <a:t>...ali otvorio i nove probleme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856232"/>
            <a:ext cx="5364327" cy="4270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Halucinacije - izmišljene činjenice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Generičnost izlaza, malo veze sa konkretnim materijalom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Pitanja na pogrešnom kognitivnom nivou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Nedostatak formalne strukture i ponovljivosti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•  Teško proveriti gde se šta oslonilo na izvor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0 - ZAŠTO SAD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Zašto bas sad? - tri empirijska signala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Od Bloomovog '2 Sigma' problema do mainstream LLM tutora.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3515258" cy="436168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3515258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BLOOM (1984)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305805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'2 Sigma Problem'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79192"/>
            <a:ext cx="45720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62072"/>
            <a:ext cx="3058058" cy="294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1-na-1 tutoring podiže prosečnog studenta na ~98. percentil. ITS poslednjih 40 godina pokušava da se približi ovom efektu.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444752"/>
            <a:ext cx="3515258" cy="436168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8218" y="1444752"/>
            <a:ext cx="3515258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6818" y="1719072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KHAN ACADEMY (2023+)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2039112"/>
            <a:ext cx="305805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Khanmigo u školama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66818" y="2679192"/>
            <a:ext cx="45720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6818" y="2862072"/>
            <a:ext cx="3058058" cy="294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Prvi mainstream LLM tutor u nastavi. Već u 100+ školskih distrikta u SAD. AI tutori više nisu istraživanje - produkcija su.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7796" y="1444752"/>
            <a:ext cx="3515258" cy="436168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7796" y="1444752"/>
            <a:ext cx="3515258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6396" y="1719072"/>
            <a:ext cx="3058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KESTIN ET AL. (HARVARD, 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2039112"/>
            <a:ext cx="305805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AI tutor &gt; active learning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6396" y="2679192"/>
            <a:ext cx="45720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56396" y="2862072"/>
            <a:ext cx="3058058" cy="294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U kontrolisanoj studiji iz fizike, GPT-4 tutor je nadmašio aktivno-učeničku nastavu, i to za pola vremena. Empirijski signal da je tehnologija sazrela.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4B5563"/>
                </a:solidFill>
                <a:latin typeface="Calibri"/>
              </a:rPr>
              <a:t>Pitanje više nije 'da li LLM može nešto' - pitanje je 'kako ga koristimo dobro'.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0 -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ITS landscape - gde se mi uklapamo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Postojeci sistemi serviraju materijal; mi automatizujemo njegovo generisanje.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ITS landscape - gde se mi uklapamo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01952"/>
            <a:ext cx="11094415" cy="780897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09728" cy="780897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338328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Carnegie Learning / ALEKS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1901952"/>
            <a:ext cx="237744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Klasični cognitive tutor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901952"/>
            <a:ext cx="4693615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~30 godina, rule-based, jaka pedagoška teorija (ACT-R), bez LLM-a.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74289"/>
            <a:ext cx="11094415" cy="780897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774289"/>
            <a:ext cx="109728" cy="780897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774289"/>
            <a:ext cx="338328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Khan Academy Khanmigo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774289"/>
            <a:ext cx="237744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1">
                <a:solidFill>
                  <a:srgbClr val="1B365D"/>
                </a:solidFill>
                <a:latin typeface="Calibri"/>
              </a:rPr>
              <a:t>LLM-driven, 2023+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774289"/>
            <a:ext cx="4693615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GPT-4 zasnovan tutor; čuvar konteksta + nastavnički dashboard.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46627"/>
            <a:ext cx="11094415" cy="780897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646627"/>
            <a:ext cx="109728" cy="780897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646627"/>
            <a:ext cx="338328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Duolingo 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3646627"/>
            <a:ext cx="237744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1">
                <a:solidFill>
                  <a:srgbClr val="1B365D"/>
                </a:solidFill>
                <a:latin typeface="Calibri"/>
              </a:rPr>
              <a:t>LLM-driven jezici, 2023+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646627"/>
            <a:ext cx="4693615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'Role play' i 'Explain my answer' funkcije; placeno premium tier.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18964"/>
            <a:ext cx="11094415" cy="780897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518964"/>
            <a:ext cx="109728" cy="780897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518964"/>
            <a:ext cx="338328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Vesin et al. - ProTuS (FTN/UNS)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4518964"/>
            <a:ext cx="237744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1">
                <a:solidFill>
                  <a:srgbClr val="1B365D"/>
                </a:solidFill>
                <a:latin typeface="Calibri"/>
              </a:rPr>
              <a:t>Ontology-based Java tutor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518964"/>
            <a:ext cx="4693615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Domaci rad iz naseg fakulteta; ontologija + adaptivne preporuke.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91302"/>
            <a:ext cx="11094415" cy="780897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391302"/>
            <a:ext cx="109728" cy="78089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391302"/>
            <a:ext cx="338328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Nas predlog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9" y="5391302"/>
            <a:ext cx="237744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1">
                <a:solidFill>
                  <a:srgbClr val="C25700"/>
                </a:solidFill>
                <a:latin typeface="Calibri"/>
              </a:rPr>
              <a:t>LLM + Ontologija + Taksonomija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391302"/>
            <a:ext cx="4693615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Generisanje materijala (struktura + pitanja + video), ne samo serviranje.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0 - VIZIJA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Vizija - ITS pipeline od ishoda do video tutorijala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5 koraka, end-to-end, bez rucne intervencije između.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7632"/>
            <a:ext cx="2087209" cy="219456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27632"/>
            <a:ext cx="2087209" cy="914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10512"/>
            <a:ext cx="208720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C2570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208720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365D"/>
                </a:solidFill>
                <a:latin typeface="Calibri"/>
              </a:rPr>
              <a:t>Ulaz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190432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Ishodi učenja
PDF materijal
NL instrukcije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4137" y="2633472"/>
            <a:ext cx="128016" cy="182880"/>
          </a:xfrm>
          <a:prstGeom prst="rightArrow">
            <a:avLst/>
          </a:prstGeom>
          <a:solidFill>
            <a:srgbClr val="C2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00441" y="1627632"/>
            <a:ext cx="2087209" cy="219456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00441" y="1627632"/>
            <a:ext cx="2087209" cy="914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00441" y="1810512"/>
            <a:ext cx="208720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C2570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0441" y="2267712"/>
            <a:ext cx="208720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365D"/>
                </a:solidFill>
                <a:latin typeface="Calibri"/>
              </a:rPr>
              <a:t>Struktura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1881" y="2724912"/>
            <a:ext cx="190432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Bloom-driven
moduli i ishodi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05938" y="2633472"/>
            <a:ext cx="128016" cy="182880"/>
          </a:xfrm>
          <a:prstGeom prst="rightArrow">
            <a:avLst/>
          </a:prstGeom>
          <a:solidFill>
            <a:srgbClr val="C2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52242" y="1627632"/>
            <a:ext cx="2087209" cy="219456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52242" y="1627632"/>
            <a:ext cx="2087209" cy="914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52242" y="1810512"/>
            <a:ext cx="208720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C25700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2242" y="2267712"/>
            <a:ext cx="208720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365D"/>
                </a:solidFill>
                <a:latin typeface="Calibri"/>
              </a:rPr>
              <a:t>Ontologija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682" y="2724912"/>
            <a:ext cx="190432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OWL/RDF
konceptualne relacije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57740" y="2633472"/>
            <a:ext cx="128016" cy="182880"/>
          </a:xfrm>
          <a:prstGeom prst="rightArrow">
            <a:avLst/>
          </a:prstGeom>
          <a:solidFill>
            <a:srgbClr val="C2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04044" y="1627632"/>
            <a:ext cx="2087209" cy="219456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04044" y="1627632"/>
            <a:ext cx="2087209" cy="914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04044" y="1810512"/>
            <a:ext cx="208720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C25700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4044" y="2267712"/>
            <a:ext cx="208720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365D"/>
                </a:solidFill>
                <a:latin typeface="Calibri"/>
              </a:rPr>
              <a:t>Generisanje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5484" y="2724912"/>
            <a:ext cx="190432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SOLO pitanja
video demoi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09541" y="2633472"/>
            <a:ext cx="128016" cy="182880"/>
          </a:xfrm>
          <a:prstGeom prst="rightArrow">
            <a:avLst/>
          </a:prstGeom>
          <a:solidFill>
            <a:srgbClr val="C2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555845" y="1627632"/>
            <a:ext cx="2087209" cy="219456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555845" y="1627632"/>
            <a:ext cx="2087209" cy="914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55845" y="1810512"/>
            <a:ext cx="208720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C25700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845" y="2267712"/>
            <a:ext cx="208720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365D"/>
                </a:solidFill>
                <a:latin typeface="Calibri"/>
              </a:rPr>
              <a:t>Izlaz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285" y="2724912"/>
            <a:ext cx="190432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1F2937"/>
                </a:solidFill>
                <a:latin typeface="Calibri"/>
              </a:rPr>
              <a:t>Strukturisan
ITS pipeline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096512"/>
            <a:ext cx="11094415" cy="198424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4096512"/>
            <a:ext cx="73152" cy="198424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233672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25700"/>
                </a:solidFill>
                <a:latin typeface="Calibri"/>
              </a:rPr>
              <a:t>Vizija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553712"/>
            <a:ext cx="1063721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Calibri"/>
              </a:rPr>
              <a:t>Od ishoda učenja, automatski, do snimljene video demonstracije i SOLO kviza - bez rucne intervencije.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0 - KOMPONENTE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Tri komponente jednog pipeline-a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Svaki član tima radi jedan deo - zajedno čine celinu.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354573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3545738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3179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LUKA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17997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Calibri"/>
              </a:rPr>
              <a:t>Struktura kursa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179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Bloomova taksonomija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45720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53512"/>
            <a:ext cx="3179978" cy="2944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Hijerarhija: kurs -&gt; modul -&gt; koncept -&gt; ishod -&gt; aktivnost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JSON serijalizacija sa rekurzivnom strukturom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Bloomovi nivoi mapirani na tipove aktivnosti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State-of-generation kontekst za koherentnost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2978" y="1444752"/>
            <a:ext cx="354573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22978" y="1444752"/>
            <a:ext cx="3545738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5858" y="1673352"/>
            <a:ext cx="3179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STEFAN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858" y="1965960"/>
            <a:ext cx="317997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Calibri"/>
              </a:rPr>
              <a:t>Video demonstracije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5858" y="2423160"/>
            <a:ext cx="3179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OWL ontologija + Computer 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5858" y="2788920"/>
            <a:ext cx="45720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5858" y="2953512"/>
            <a:ext cx="3179978" cy="2944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NL instrukcija -&gt; Task / Step / Action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OWL validacija plana pre izvršenja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SPARQL upiti vode izvršavanje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Vision (Qwen 2.5 VL) za UI detekciju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FFmpeg snima MP4 tutorijal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7316" y="1444752"/>
            <a:ext cx="354573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7316" y="1444752"/>
            <a:ext cx="3545738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80196" y="1673352"/>
            <a:ext cx="3179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UROŠ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196" y="1965960"/>
            <a:ext cx="317997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365D"/>
                </a:solidFill>
                <a:latin typeface="Calibri"/>
              </a:rPr>
              <a:t>SOLO pitanja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0196" y="2423160"/>
            <a:ext cx="3179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Ontology-grounded MCQ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0196" y="2788920"/>
            <a:ext cx="45720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80196" y="2953512"/>
            <a:ext cx="3179978" cy="2944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4 SOLO nivoa: U / M / R / EA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PS4 prompt template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source_line citat iz PDF-a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Ontology anchor iz ConceptRelationship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Two-pass generisanje za 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0 - KLJUČNA PORUKA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Ključna poruka prezentacije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01952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C25700"/>
                </a:solidFill>
                <a:latin typeface="Calibri"/>
              </a:rPr>
              <a:t>Ključna poruka prezentacije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80721" y="2542032"/>
            <a:ext cx="9430252" cy="201168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80721" y="2542032"/>
            <a:ext cx="9430252" cy="30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80721" y="2907792"/>
            <a:ext cx="94302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1B365D"/>
                </a:solidFill>
                <a:latin typeface="Calibri"/>
              </a:rPr>
              <a:t>LLM  +  ontologija  +  pedagoška taksonomija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0721" y="3547872"/>
            <a:ext cx="94302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C25700"/>
                </a:solidFill>
                <a:latin typeface="Calibri"/>
              </a:rP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21" y="3959352"/>
            <a:ext cx="94302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1">
                <a:solidFill>
                  <a:srgbClr val="1F2937"/>
                </a:solidFill>
                <a:latin typeface="Calibri"/>
              </a:rPr>
              <a:t>pouzdano, pedagoški kalibrisano ITS okruženje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82312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4B5563"/>
                </a:solidFill>
                <a:latin typeface="Calibri"/>
              </a:rPr>
              <a:t>više od zbira svojih delova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C060"/>
                </a:solidFill>
                <a:latin typeface="Calibri"/>
              </a:rPr>
              <a:t>SEGMENT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LLM prompting i pedagoške taksonomije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60520"/>
            <a:ext cx="1371600" cy="40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D1D5DB"/>
                </a:solidFill>
                <a:latin typeface="Calibri"/>
              </a:rPr>
              <a:t>Hijerarhijska dekompozicija + formalna taksonomija u promptu = pedagoški kalibrisan LLM.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4C9D4"/>
                </a:solidFill>
                <a:latin typeface="Calibri"/>
              </a:rPr>
              <a:t>25 min  /  11 slajdova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A - BLOOM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Bloomova taksonomija - 6 nivoa misaonih operacija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Glagol akcije: pamtiti, razumeti, primeniti, analizirati, evaluirati, kreirati.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6101928" cy="72694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502920" cy="7269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502920" cy="726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44752"/>
            <a:ext cx="537040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Pamtiti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19072"/>
            <a:ext cx="5370408" cy="452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Cinjenice, definicije, terminologija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4852"/>
            <a:ext cx="6101928" cy="72694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244852"/>
            <a:ext cx="502920" cy="7269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244852"/>
            <a:ext cx="502920" cy="726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44852"/>
            <a:ext cx="537040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Razumeti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19172"/>
            <a:ext cx="5370408" cy="452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Objašnjenje, parafraziranje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44952"/>
            <a:ext cx="6101928" cy="72694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044952"/>
            <a:ext cx="502920" cy="7269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044952"/>
            <a:ext cx="502920" cy="726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044952"/>
            <a:ext cx="537040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Primeniti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319272"/>
            <a:ext cx="5370408" cy="452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Resavanje analognih problema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5052"/>
            <a:ext cx="6101928" cy="72694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3845052"/>
            <a:ext cx="502920" cy="7269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845052"/>
            <a:ext cx="502920" cy="726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845052"/>
            <a:ext cx="537040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Analizirati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19372"/>
            <a:ext cx="5370408" cy="452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Razlaganje, poređenje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45152"/>
            <a:ext cx="6101928" cy="72694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645152"/>
            <a:ext cx="502920" cy="7269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645152"/>
            <a:ext cx="502920" cy="726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L5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645152"/>
            <a:ext cx="537040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Evaluirati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19472"/>
            <a:ext cx="5370408" cy="452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Procena, kritičko mišljenje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45252"/>
            <a:ext cx="6101928" cy="72694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5445252"/>
            <a:ext cx="502920" cy="72694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445252"/>
            <a:ext cx="502920" cy="726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L6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445252"/>
            <a:ext cx="537040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Kreirati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719572"/>
            <a:ext cx="5370408" cy="452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Sinteza, novi rad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24888" y="1444752"/>
            <a:ext cx="4718166" cy="4727448"/>
          </a:xfrm>
          <a:prstGeom prst="rect">
            <a:avLst/>
          </a:prstGeom>
          <a:solidFill>
            <a:srgbClr val="EEEF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24888" y="3442716"/>
            <a:ext cx="4718166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000" b="1" i="0">
                <a:solidFill>
                  <a:srgbClr val="4B5563"/>
                </a:solidFill>
                <a:latin typeface="Calibri"/>
              </a:rPr>
              <a:t>[ Slika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4888" y="3854196"/>
            <a:ext cx="47181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4B5563"/>
                </a:solidFill>
                <a:latin typeface="Calibri"/>
              </a:rPr>
              <a:t>Bloomova piramida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A - SOLO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SOLO taksonomija - strukturalna složenost odgovora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Od jedne činjenice do generalizacije i transfera znanja.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6101928" cy="109956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91440" cy="1099566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57361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Unistructural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736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C25700"/>
                </a:solidFill>
                <a:latin typeface="Calibri"/>
              </a:rPr>
              <a:t>Jedna izolovana činjenica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5736168" cy="413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Setiti se jednog elementa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4046"/>
            <a:ext cx="6101928" cy="109956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654046"/>
            <a:ext cx="91440" cy="1099566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745486"/>
            <a:ext cx="57361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Multistructural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38094"/>
            <a:ext cx="5736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C25700"/>
                </a:solidFill>
                <a:latin typeface="Calibri"/>
              </a:rPr>
              <a:t>Više nepovezanih činjenica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12414"/>
            <a:ext cx="5736168" cy="413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Prepoznati skup elemenata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63340"/>
            <a:ext cx="6101928" cy="109956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863340"/>
            <a:ext cx="91440" cy="1099566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954780"/>
            <a:ext cx="57361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Relational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47388"/>
            <a:ext cx="5736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C25700"/>
                </a:solidFill>
                <a:latin typeface="Calibri"/>
              </a:rPr>
              <a:t>Veza između koncepata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1708"/>
            <a:ext cx="5736168" cy="413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Razumeti strukturu i odnose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72634"/>
            <a:ext cx="6101928" cy="109956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5072634"/>
            <a:ext cx="91440" cy="1099566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164074"/>
            <a:ext cx="57361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Extended Abstract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56682"/>
            <a:ext cx="5736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C25700"/>
                </a:solidFill>
                <a:latin typeface="Calibri"/>
              </a:rPr>
              <a:t>Generalizacija i transfer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31002"/>
            <a:ext cx="5736168" cy="413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Primeniti na novi kontekst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24888" y="1444752"/>
            <a:ext cx="4718166" cy="4270248"/>
          </a:xfrm>
          <a:prstGeom prst="rect">
            <a:avLst/>
          </a:prstGeom>
          <a:solidFill>
            <a:srgbClr val="EEEF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24888" y="3214116"/>
            <a:ext cx="4718166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000" b="1" i="0">
                <a:solidFill>
                  <a:srgbClr val="4B5563"/>
                </a:solidFill>
                <a:latin typeface="Calibri"/>
              </a:rPr>
              <a:t>[ Slika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4888" y="3625596"/>
            <a:ext cx="47181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4B5563"/>
                </a:solidFill>
                <a:latin typeface="Calibri"/>
              </a:rPr>
              <a:t>SOLO taksonomija - vizuelni prikaz (Biggs &amp; Tang)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4888" y="5760720"/>
            <a:ext cx="47181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Biggs &amp; Collis (1982). Lister et al. (2006) - empirijski pokazali da početnici programiranja ozbiljno zaostaju na Relational i Extended Abstract zadacima.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A - POREĐENJE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Bloom vs SOLO - različiti pogledi, komplementarni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44752"/>
          <a:ext cx="11094415" cy="3447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7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7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469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Aspekt</a:t>
                      </a:r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Bloom (revidirana)</a:t>
                      </a:r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469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Tip hijerarhije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Tipovi misaonih operacija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Strukturalna složenost odgovora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469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Broj nivoa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6 nivoa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5 nivoa (uključujući prestructural)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469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Osnovna jedinica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Glagol akcije (znati, primeniti, 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Broj i organizacija elemenata u odgovoru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469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Tipična upotreba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Planiranje aktivnosti i ishoda učenja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Evaluacija dubine učenja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469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Mi koristimo 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Strukturu kursa (Luka)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Generisanje pitanja (Uroš)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47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Glavna prednost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Direktna veza sa nastavnim aktivnostima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Direktna veza sa kognitivnom dubinom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074920"/>
            <a:ext cx="11094415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5074920"/>
            <a:ext cx="73152" cy="9144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166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Zašto obe?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Bloom upravlja STA generišemo (tipovi aktivnosti), SOLO upravlja KOLIKO DUBOKO se proverava (kognitivni nivoi pitanja).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A - LUKA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Luka - hijerarhijska struktura kursa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LLM razlaže kurs u stablo modula, koncepata, ishoda i aktivnosti.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Hijerarhijska dekompozicija kursa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ULAZ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Tema kursa i opšti opis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Lista ciljeva (ishoda učenja)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LLM PROLAZ PO NIVOU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Generiše module iz teme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Generiše koncepte iz modula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Generiše ishode iz koncepata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Generiše aktivnosti iz ishoda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BLOOMOVO MAPIRANJE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Svaka aktivnost dobija Bloomov nivo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Aktivnosti se biraju kako bi pokrile sve nivoe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1719072"/>
            <a:ext cx="499856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78727" y="1719072"/>
            <a:ext cx="91440" cy="4572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1607" y="1719072"/>
            <a:ext cx="47242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Kurs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44487" y="2286000"/>
            <a:ext cx="463280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44487" y="2286000"/>
            <a:ext cx="91440" cy="4572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27367" y="2286000"/>
            <a:ext cx="43584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Modul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0247" y="2852928"/>
            <a:ext cx="426704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10247" y="2852928"/>
            <a:ext cx="91440" cy="4572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93127" y="2852928"/>
            <a:ext cx="399272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C25700"/>
                </a:solidFill>
                <a:latin typeface="Calibri"/>
              </a:rPr>
              <a:t>Koncept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6007" y="3419856"/>
            <a:ext cx="390128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6007" y="3419856"/>
            <a:ext cx="91440" cy="4572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58887" y="3419856"/>
            <a:ext cx="36269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C25700"/>
                </a:solidFill>
                <a:latin typeface="Calibri"/>
              </a:rPr>
              <a:t>Ishod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1767" y="3986784"/>
            <a:ext cx="353552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41767" y="3986784"/>
            <a:ext cx="91440" cy="45720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4647" y="3986784"/>
            <a:ext cx="326120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4B5563"/>
                </a:solidFill>
                <a:latin typeface="Calibri"/>
              </a:rPr>
              <a:t>Aktivnost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645152"/>
            <a:ext cx="49985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Rekurzivna struktura, JSON serijalizacija.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A - LUKA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Luka - prompt template + state-of-generation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Prompt template za strukturu kursa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ŠTA ULAZI U PROMPT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Tema i kontekst kursa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Lista ciljeva učenja (ishoda)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Bloomov nivo koji se traži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Stanje već generisanog sadržaja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ANTI-REDUNDANCIJA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Prethodno generisane aktivnosti se ubacuju u prompt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LLM se eksplicitno traži da izbegne ponavljanje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Daje koherentnost preko celog kursa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8727" y="1444752"/>
            <a:ext cx="5364327" cy="427024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3319" y="1609344"/>
            <a:ext cx="5035143" cy="3941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Role: ti si iskusan instructional designer.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Tema kursa: {tema}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Ciljevi učenja: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- {cilj_1}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- {cilj_2}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Generiši N aktivnosti za nivo: {bloom_level}.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Već generisane aktivnosti (ne ponavljaj):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- {prev_activity_1}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- {prev_activity_2}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Format izlaza: JSON sa poljima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title, description, bloom_level, estimated_time.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5760720"/>
            <a:ext cx="53643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Skica prompta - parametri u {}.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A - UROŠ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Uroš - SOLO Quiz Generator i PS4 prompt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SOLO Quiz Generator (Uroš)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ULAZ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PDF lekcija (Srpski / Engleski, auto-detekcija)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Parsirane sekcije i learning objekti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Generisana ontologija pojmova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IZLAZ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MCQ pitanja na 4 SOLO nivoa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Svako pitanje: source_line citat iz PDF-a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Relaciona i EA: ontology anchor u tags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TECH STACK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Ollama qwen2.5:14b-instruct-q4 lokalno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RDFLib + SPARQL, SQLite + Flask +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444752"/>
            <a:ext cx="536432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PS4 prompt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37360"/>
            <a:ext cx="53643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Scaria et al. (2024) - PS4 nadmašio PS5 u istom papiru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2011680"/>
            <a:ext cx="5364327" cy="90297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78727" y="2011680"/>
            <a:ext cx="91440" cy="90297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7327" y="2057400"/>
            <a:ext cx="5090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Persona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377440"/>
            <a:ext cx="5090007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Role priming - LLM kao iskusan pedagog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3006090"/>
            <a:ext cx="5364327" cy="90297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78727" y="3006090"/>
            <a:ext cx="91440" cy="90297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7327" y="3051810"/>
            <a:ext cx="5090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Pravila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3371850"/>
            <a:ext cx="5090007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SOLO def + 1 worked example (cross-domain: fotosinteza)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4000500"/>
            <a:ext cx="5364327" cy="90297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727" y="4000500"/>
            <a:ext cx="91440" cy="90297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7327" y="4046220"/>
            <a:ext cx="5090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Putanja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4366260"/>
            <a:ext cx="5090007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Chain-of-thought scaffold - Wei et al. (2022)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4994910"/>
            <a:ext cx="5364327" cy="90297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78727" y="4994910"/>
            <a:ext cx="91440" cy="90297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7327" y="5040630"/>
            <a:ext cx="5090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Pitanja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360670"/>
            <a:ext cx="5090007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JSON schema + typed distractors + Haladyna H-rules (2002)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5989320"/>
            <a:ext cx="53643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Worked example cross-domain (fotosinteza, ne OS) - Sweller &amp; Cooper (1985):
studira se STRUKTURA pitanja, ne sadržaj.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A - UROŠ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Two-pass generisanje za Extended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Razdvajamo 'šta pitati' od 'kako napraviti dobre distraktore'.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Pass 1: pitanje + odgovor +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18607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LLM generiše pitanje za EA nivo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Vraca tačan odgovor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Vraca source_line - doslovni navod iz PDF-a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Veza pitanje &lt;-&gt; izvor je eksplicitna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79392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Pass 2: typed distractors (predictive prompting)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36592"/>
            <a:ext cx="5318607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Echo: ponovi pitanje i tačan odgovor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Generiši 3 tipizirana distraktora po SOLO nivou: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      ◦  EA: APPLIES_WRONG_PRINCIPLE  /  RIGHT_PRINCIPLE_WRONG_DOMAIN  /  OVER_GENERALIZATION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Strategije zasnovane na Sadler (1998) misconception theory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Bitew et al. (2023): ~53% distraktora ocenjeno production-ready - prevazilazi prethodne SOTA pristupe.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1444752"/>
            <a:ext cx="5318607" cy="219456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24447" y="1444752"/>
            <a:ext cx="109728" cy="219456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3047" y="1581912"/>
            <a:ext cx="50442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PASS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1901952"/>
            <a:ext cx="50442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LLM -&gt; { pitanje, tacan_odgovor, source_line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404872"/>
            <a:ext cx="504428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Fokus: pedagoška valjanost pitanja i grounding u izvoru. Distraktori se NE traže u ovom prolazu.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846591" y="3685032"/>
            <a:ext cx="274320" cy="365760"/>
          </a:xfrm>
          <a:prstGeom prst="downArrow">
            <a:avLst/>
          </a:prstGeom>
          <a:solidFill>
            <a:srgbClr val="C2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24447" y="4142232"/>
            <a:ext cx="5318607" cy="184708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24447" y="4142232"/>
            <a:ext cx="109728" cy="184708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3047" y="4279392"/>
            <a:ext cx="50442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PASS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9432"/>
            <a:ext cx="50442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LLM -&gt; { 3 typed distractor-a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102352"/>
            <a:ext cx="5044287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Echo prompt: LLM ponovi pitanje, pa generiše distraktore po tipiziranim strategijama greske. Smanjuje 'lažne' distraktore.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A - UROŠ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Source-line citation - anti-halucinacija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Source-line citation kao anti-halucinacija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3643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Lagana varijanta RAG-a (Lewis et al., 2020): model surface-uje svoju citaciju.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364327" cy="4087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ŠTA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Uz svako pitanje, LLM mora vratiti doslovni navod iz PDF-a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Navod opravdava tačan odgovor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ZAŠTO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Ako navod ne postoji u izvoru = signal halucinacije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Recenzent vidi gde je 'istina' - sekundama, ne minutima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LIMIT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Source_line hvata KRAĐU citata - ne hvata pogrešnu interpretaciju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Za to imamo CoVe (Chain-of-Verification) - vidi sledeće slajdove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Primer JSON izlaza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901952"/>
            <a:ext cx="5364327" cy="417880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3319" y="2066544"/>
            <a:ext cx="5035143" cy="3849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"level": "relational",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"question": "Kako se memorijska\n   hijerarhija odnosi prema brzini\n   pristupa i kapacitetu?",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"correct": "Brzina opada, a\n   kapacitet raste niz hijerarhiju.",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"distractors": [...],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"source_line": "Memorijska\n   hijerarhija je organizovana tako\n   da brže memorije imaju manji\n   kapacitet.",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"tags": { "ontology_anchor": {\n     "source": "RAM",\n     "target": "Cache",\n     "type": "is_faster_than"\n  } }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6126480"/>
            <a:ext cx="53643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Pojednostavljeni primer odgovora LLM-a.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A - STEFAN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Stefan - hijerarhijska dekompozicija zadataka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Task -&gt; Step -&gt; Action: tri nivoa razgradnje prirodno-jezičke instrukcije.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Computer Use Video Instructions (Stefan)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ULAZ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Prirodno-jezička instrukcija praktičkog zadatka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Npr. "Kreiraj C# konzolni projekat u Visual Studio-u"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IZLAZ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Snimljeni MP4 video tutorijal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OWL fajl izvršnog plana (auditable)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HIJERARHIJA RAZGRADNJE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Task: kompletan zadatak (zatvorena celina)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Step: atomična akcija (otvori, klikni, otkucaj)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Action: tip akcije iz fiksne ontologije akcija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Task / Step / Action hijerarhija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901952"/>
            <a:ext cx="5364327" cy="133197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78727" y="1901952"/>
            <a:ext cx="91440" cy="1331976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7327" y="1993392"/>
            <a:ext cx="50900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313432"/>
            <a:ext cx="5090007" cy="920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Open VS, create C# Console app, write Hello World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3371088"/>
            <a:ext cx="5364327" cy="133197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78727" y="3371088"/>
            <a:ext cx="91440" cy="1331976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7327" y="3462528"/>
            <a:ext cx="50900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3782568"/>
            <a:ext cx="5090007" cy="920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1. open_application Visual Studio   -&gt;   2. wait   -&gt;   3. click Create new project   -&gt;  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4840224"/>
            <a:ext cx="5364327" cy="133197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727" y="4840224"/>
            <a:ext cx="91440" cy="1331976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7327" y="4931664"/>
            <a:ext cx="50900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5251704"/>
            <a:ext cx="5090007" cy="920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open_application | click | type_text | key_press | wait | capture_screen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A -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Prompt engineering vs Fine-tuning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44752"/>
          <a:ext cx="11094413" cy="3447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4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0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0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469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Prompt engineering</a:t>
                      </a:r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469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Trosak razvoja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Nizak - samo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Visok - dataset + trening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469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Trosak izvršenja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Veci prompt = veći token cost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Manji prompt, ali specijalizovan model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469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Brzina iteracije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Sekunde - promenis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Sati / dani - rerun trening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469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Domen-specifičnost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Ogranicena, oslanja se na bazni model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Visoka, prilagođen domenu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469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Kontrola halucinacija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Posredna (CoT, schema, grounding)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Direktna (kvalitet treninga)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47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Nas izbor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Da - PS4 + ontology grounding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Ne, za sada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074920"/>
            <a:ext cx="11094415" cy="9144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5074920"/>
            <a:ext cx="73152" cy="9144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166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Zašto prompt engineering, ne fine-tune?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Bez stabilnog domenskog dataset-a za SOLO/Bloom u programiranju, prompt + ontology grounding daje brzu, transparentnu i jeftiniju iteraciju.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A -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Lokalni vs cloud LLM-ovi - mi koristimo oba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44752"/>
          <a:ext cx="11094414" cy="4361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09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Lokalni: Ollama Qwen 2.5 14B</a:t>
                      </a:r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Cloud: Groq Llama 3.3 70B</a:t>
                      </a:r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Cloud Vision: Qwen 2.5 VL 72B</a:t>
                      </a:r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09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Koristi se 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Uroš - SOLO pitanja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Stefan - planiranje koraka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Stefan - UI detekcija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09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Trosak po pozivu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0 (lokalno)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Mali (per token)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Srednji (vision)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09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Brzina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Sporije, zavisi od GPU-a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Vrlo brzo (Groq accel.)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Brza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309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Privatnost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Visoka (sve lokalno)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Niska - cloud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Niska - cloud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09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Kvalitet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Solidan za EA, slabiji za nuansiranja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Veoma dobar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Najbolji za 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310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Cache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SHA-256 keys u SQLite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n/a u ovom projektu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A - KLJUČNA PORUKA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Ključna poruka segmenta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051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C25700"/>
                </a:solidFill>
                <a:latin typeface="Calibri"/>
              </a:rPr>
              <a:t>Ključna poruka segmenta A</a:t>
            </a:r>
          </a:p>
        </p:txBody>
      </p:sp>
      <p:sp>
        <p:nvSpPr>
          <p:cNvPr id="5" name="Rectangle 4"/>
          <p:cNvSpPr/>
          <p:nvPr/>
        </p:nvSpPr>
        <p:spPr>
          <a:xfrm>
            <a:off x="1380721" y="2450592"/>
            <a:ext cx="9430252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80721" y="2450592"/>
            <a:ext cx="9430252" cy="30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46481" y="2907792"/>
            <a:ext cx="8698732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1">
                <a:solidFill>
                  <a:srgbClr val="1B365D"/>
                </a:solidFill>
                <a:latin typeface="Calibri"/>
              </a:rPr>
              <a:t>Hijerarhijska dekompozicija + formalna pedagoška taksonomija ugrađena u prompt transformisu LLM iz generickog generatora teksta u pedagoški kalibrisan alat.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93792"/>
            <a:ext cx="35762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C25700"/>
                </a:solidFill>
                <a:latin typeface="Calibri"/>
              </a:rPr>
              <a:t>Bloom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59552"/>
            <a:ext cx="357621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4B5563"/>
                </a:solidFill>
                <a:latin typeface="Calibri"/>
              </a:rPr>
              <a:t>drives the WHAT - tipovi aktivnosti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7738" y="5193792"/>
            <a:ext cx="35762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C25700"/>
                </a:solidFill>
                <a:latin typeface="Calibri"/>
              </a:rPr>
              <a:t>SOLO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7738" y="5559552"/>
            <a:ext cx="357621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4B5563"/>
                </a:solidFill>
                <a:latin typeface="Calibri"/>
              </a:rPr>
              <a:t>drives the HOW DEEP - kognitivne razlike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6836" y="5193792"/>
            <a:ext cx="35762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C25700"/>
                </a:solidFill>
                <a:latin typeface="Calibri"/>
              </a:rPr>
              <a:t>PS4 / dekompozicija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6836" y="5559552"/>
            <a:ext cx="357621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4B5563"/>
                </a:solidFill>
                <a:latin typeface="Calibri"/>
              </a:rPr>
              <a:t>drives the HOW - struktura prompta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C060"/>
                </a:solidFill>
                <a:latin typeface="Calibri"/>
              </a:rPr>
              <a:t>SEGMENT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Ontologije i formalni grounding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60520"/>
            <a:ext cx="1371600" cy="40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D1D5DB"/>
                </a:solidFill>
                <a:latin typeface="Calibri"/>
              </a:rPr>
              <a:t>Ontologija je ugovor između LLM-a i sistema - sve sto LLM proizvede mora se mapirati.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4C9D4"/>
                </a:solidFill>
                <a:latin typeface="Calibri"/>
              </a:rPr>
              <a:t>25 min  /  10 slajdova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B - OSNOVE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OWL - Web Ontology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Klase, instance, relacije, ograničenja, mas i mas serijalizacija.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OWL (Web Ontology Language)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W3C standard za formalne ontologije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Definise klase, instance, relacije, ograničenja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Čitljiv mas i mas (RDF/XML, Turtle, OWL/XML)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Reasoning - može da izvodi nove činjenice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MI KORISTIMO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Stefan: OWL u Turtle (computer_use.ttl)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Uroš: seed OWL + RDF/XML eksport za Protege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Luka: konceptualni model serijalizovan u 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1901952"/>
            <a:ext cx="5364327" cy="417880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3319" y="2066544"/>
            <a:ext cx="5035143" cy="3849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@prefix cu: &lt;http://example.org/computer-use#&gt; 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@prefix owl: &lt;.../owl#&gt; 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@prefix rdf: &lt;.../rdf-syntax-ns#&gt; 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cu:Task a owl:Class 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cu:Step a owl:Class 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cu:hasStep a owl:ObjectProperty 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rdfs:domain cu:Task 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rdfs:range  cu:Step 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cu:stepOrder a owl:DatatypeProperty 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rdfs:domain cu:Step 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rdfs:range  xsd:integer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6126480"/>
            <a:ext cx="53643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Mini-isečak iz computer_use.ttl (Stefan).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B - OSNOVE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RDF i SPARQL - tripleti i upiti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Sve činjenice su tripleti; sve upite pišemo nad gradom triplet-a.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RDF - tripleti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64327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Resource Description Framework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Sve činjenice = (subject, predicate, object)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Primer: (RAM, is_faster_than, Disk)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OWL je TBox, RDF je ABox - klase vs instance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79392"/>
            <a:ext cx="5364327" cy="11887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4443984"/>
            <a:ext cx="5035143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:RAM   rdf:type  :MemoryDevice 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:Disk  rdf:type  :MemoryDevice 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:RAM   :isFasterThan  :Disk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13832"/>
            <a:ext cx="53643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3 RDF tripleta = mini graf.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SPARQL - upitni jezik nad RDF/OWL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901952"/>
            <a:ext cx="5364327" cy="408736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3319" y="2066544"/>
            <a:ext cx="5035143" cy="3758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SELECT ?step ?order ?action ?target WHERE {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?task a cu:Task ; cu:hasStep ?step 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?step cu:stepOrder ?order 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 cu:hasAction ?action 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 cu:targetName ?target 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} ORDER BY ?order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6035040"/>
            <a:ext cx="53643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Stefanov upit za čitanje koraka iz OWL plana.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B - LUKA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Luka - JSON serijalizacija strukture kursa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LLM lakše generiše validan JSON nego direktan OWL - JSON -&gt; OWL je determinizam.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JSON serijalizacija strukture kursa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Hijerarhijska, rekurzivna struktura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Svaki čvor ima id, name, bloom_level, children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Aktivnosti su listovi u stablu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Lako se mapira u Protege / OWL graph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ZAŠTO JSON, A NE ODMAH OWL?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Lakše za LLM da generiše validan JSON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Lakše za UI prikaz i editovanje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Mapiranje JSON -&gt; OWL je determinizam, lako se radi unazad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1901952"/>
            <a:ext cx="5364327" cy="417880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3319" y="2066544"/>
            <a:ext cx="5035143" cy="3849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"course": "Operativni sistemi",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"modules": [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{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"name": "Procesi i niti",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"concepts": [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 {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   "name": "Proces",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   "outcomes": [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     {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       "name": "Razumeti stanja procesa",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       "bloom": "Razumeti",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       "activities": [...]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     }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   ]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 }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]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6126480"/>
            <a:ext cx="53643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Primer Lukinog JSON izlaza (pojednostavljeno).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B - UROŠ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Uroš - ConceptRelationship ontologija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Relacije između learning objekata - osnova za relacionalna i EA pitanja.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ConceptRelationship ontologija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MODELUJE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Relacije između learning objekata (LO) jedne lekcije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Edge = (source, target, type, description)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Čuva se u SQL tabeli i eksportuje u Turtle / OWL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MULTI-PASS EKSTRAKCIJA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5 LLM prolaza, jedan po tipu relacije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Smanjuje hallucinated 'prerequisite' lance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Konzervativan fallback samo ako LLM vrati nulu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TIPOVI RELACIJA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prerequisite, example_of, depends_on,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Tipovi relacija u ontologiji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901952"/>
            <a:ext cx="5364327" cy="78089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78727" y="1901952"/>
            <a:ext cx="91440" cy="78089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7327" y="1901952"/>
            <a:ext cx="182880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prerequisite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1847" y="1901952"/>
            <a:ext cx="3169767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A se mora razumeti pre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774289"/>
            <a:ext cx="5364327" cy="78089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78727" y="2774289"/>
            <a:ext cx="91440" cy="78089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7327" y="2774289"/>
            <a:ext cx="182880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example_of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847" y="2774289"/>
            <a:ext cx="3169767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A je primer pojma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3646627"/>
            <a:ext cx="5364327" cy="78089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727" y="3646627"/>
            <a:ext cx="91440" cy="78089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7327" y="3646627"/>
            <a:ext cx="182880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depends_on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847" y="3646627"/>
            <a:ext cx="3169767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A operativno zavisi od 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4518964"/>
            <a:ext cx="5364327" cy="78089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78727" y="4518964"/>
            <a:ext cx="91440" cy="78089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7327" y="4518964"/>
            <a:ext cx="182880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similar_to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847" y="4518964"/>
            <a:ext cx="3169767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A i B dele ključnu karakteristiku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727" y="5391302"/>
            <a:ext cx="5364327" cy="78089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78727" y="5391302"/>
            <a:ext cx="91440" cy="78089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07327" y="5391302"/>
            <a:ext cx="1828800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part_of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847" y="5391302"/>
            <a:ext cx="3169767" cy="780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A je deo strukture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B - UROŠ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Uroš - SPARQL upit za 'ontology anchor'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Pitanje se ne pravi 'iz vazduha' - bira se konkretna veza i ona postaje kontekst.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Ontology anchor kao kontekst pitanja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643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KAQG pattern (Lin et al., 2025) - knowledge graph kao gradnja-constraint.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364327" cy="4087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Za relacionalna i EA pitanja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SPARQL bira jedan ConceptRelationship red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Anchor postaje deo prompta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Pitanje se gradi oko jedne konkretne veze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POSLEDICE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Pitanje je trasabilno - zna se na koju vezu se odnosi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Dedup po (anchor, normalized_correct_answer) - egzaktno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Lakše za reviziju nastavnika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BEZ ANCHOR-A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Relacionalna pitanja 'klize' u genericke poređenja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Anchor pretvara vagi nivo u specifičnu ivicu grafa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901952"/>
            <a:ext cx="5364327" cy="417880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3319" y="2066544"/>
            <a:ext cx="5035143" cy="3849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SELECT ?src ?type ?tgt ?desc WHERE {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?rel a :ConceptRelationship 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:source ?src ; :target ?tgt 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  :relType ?type ; :description ?desc 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?src :inLesson &lt;lesson_42&gt; .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} ORDER BY RAND() LIMIT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6126480"/>
            <a:ext cx="53643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Biranje jedne veze kao anchor-a za prompt LLM-a.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B - STEFAN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Stefan - OWL ontologija izvršnog plana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Plan koji LLM generiše mora se mapirati na klase Task / Step /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Stefan - OWL ontologija plana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KLASE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Task - kompletan automatizacioni zadatak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Step - atomična akcija u zadatku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Action - tip akcije iz fiksne liste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UIElement, Application, ExecutionState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OBJECT PROPERTIES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hasStep, hasAction, hasTarget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nextStep / previousStep, requiresApplication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DATA PROPERTIES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stepOrder, stepDescription, inputValue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targetName, waitDuration, expectedResult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Primer instance Step-a u OWL/RDF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901952"/>
            <a:ext cx="5364327" cy="417880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3319" y="2066544"/>
            <a:ext cx="5035143" cy="3849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&lt;cu:Step rdf:about=".../Step_1"&gt;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&lt;cu:stepOrder&gt;1&lt;/cu:stepOrder&gt;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&lt;cu:hasAction rdf:resource="...open_application"/&gt;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&lt;cu:targetName&gt;Visual Studio&lt;/cu:targetName&gt;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&lt;cu:stepDescription&gt;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Start Visual Studio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&lt;/cu:stepDescription&gt;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&lt;cu:expectedResult&gt;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Visual Studio is opened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&lt;/cu:expectedResult&gt;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&lt;cu:hasState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     rdf:resource="...PendingState"/&gt;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E5E7EB"/>
                </a:solidFill>
                <a:latin typeface="Consolas"/>
              </a:rPr>
              <a:t>&lt;/cu:Step&gt;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6126480"/>
            <a:ext cx="53643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Skiniran iz computer_use.ttl (Stefanov repo).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B - STEFAN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Stefan - pravila validacije plana (SPARQL)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Pre nego sto se ista izvrši, SPARQL upiti proveravaju strukturna pravila.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44752"/>
          <a:ext cx="11094414" cy="4361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8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8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6948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Pravilo</a:t>
                      </a:r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Opis</a:t>
                      </a:r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Zašto</a:t>
                      </a:r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9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Action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Samo akcije iz ontologije su dozvoljene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LLM ne može izmisliti akciju koja ne može biti izvrsena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69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Sequence validation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open_application mora prethoditi interakciji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Sprecava klikove na nepostojeći prozor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9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Wait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wait posle open_application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UI se ucitava - bez pauze klikovi promasuju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69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Parameter validation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type_text zahteva value, key_press zahteva ime tipke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Hvata strukturne greske LLM-a u JSON izlazu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694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Target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click mora imati specifičan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Bez targeta nema šta da se klikne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B - ANTI-HALUCINACIJA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Anti-halucinacioni mehanizmi - 3 ugla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Svaki član tima pokriva drugačiju vrstu greske LLM-a.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354573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3545738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3179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UROŠ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1799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source_line citat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45720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179978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LLM mora vratiti doslovni navod iz PDF-a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Citat opravdava tačan odgovor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Ako navod ne postoji = signal halucinacije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Recenzent vidi gde je tačan odgovor 'usidren'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2978" y="1444752"/>
            <a:ext cx="354573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2978" y="1444752"/>
            <a:ext cx="3545738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5858" y="1673352"/>
            <a:ext cx="3179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LUKA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state-of-generation kontekst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5858" y="2468880"/>
            <a:ext cx="45720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5858" y="2606040"/>
            <a:ext cx="3179978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Već generisane aktivnosti ubacuju se u prompt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LLM eksplicitno čita 'ne ponavljaj ovo'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Daje koherentnost kroz ceo kurs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Smanjuje generičke, ponavljajuce ishode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7316" y="1444752"/>
            <a:ext cx="354573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7316" y="1444752"/>
            <a:ext cx="3545738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0196" y="1673352"/>
            <a:ext cx="317997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STEFAN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0196" y="1965960"/>
            <a:ext cx="31799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SPARQL odbacuje nevalidne sekvence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80196" y="2468880"/>
            <a:ext cx="45720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0196" y="2606040"/>
            <a:ext cx="3179978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Pre izvršavanja - ontološka provera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Pravila: open_app pre interakcije, wait posle open_app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type_text zahteva value, ...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Nevalidan plan = stop, ne pravi se 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B - ANTI-HALUCINACIJA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Anatomija halucinacije - jedan konkretan primer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Levo: bez check-a, halucinacija prolazi. Desno: source_line + fuzzy match je hvataju.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C25700"/>
                </a:solidFill>
                <a:latin typeface="Calibri"/>
              </a:rPr>
              <a:t>Bez source_line check-a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53643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(LLM može izmisliti činjenicu)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76272"/>
            <a:ext cx="5364327" cy="3813048"/>
          </a:xfrm>
          <a:prstGeom prst="rect">
            <a:avLst/>
          </a:prstGeom>
          <a:solidFill>
            <a:srgbClr val="F5F6F8"/>
          </a:solidFill>
          <a:ln w="15240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176272"/>
            <a:ext cx="5364327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404872"/>
            <a:ext cx="49619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Q: Koja godina je donesen TCP/IP standard?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07792"/>
            <a:ext cx="49619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1F2937"/>
                </a:solidFill>
                <a:latin typeface="Calibri"/>
              </a:rPr>
              <a:t>A: 1981. (RFC 791)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410712"/>
            <a:ext cx="49619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source_line: (nedostaje)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867912"/>
            <a:ext cx="496199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25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977640"/>
            <a:ext cx="46876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25700"/>
                </a:solidFill>
                <a:latin typeface="Calibri"/>
              </a:rPr>
              <a:t>!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33672"/>
            <a:ext cx="468767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Tačan podatak izgleda - ali je u PDF-u pisalo '1983 (DoD)'. LLM se 'setio' opšte činjenice umesto da čita lekciju.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Sa source_line + fuzzy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810512"/>
            <a:ext cx="536432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(halucinacija se markira pre nego stigne do nastavnika)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2176272"/>
            <a:ext cx="5364327" cy="3813048"/>
          </a:xfrm>
          <a:prstGeom prst="rect">
            <a:avLst/>
          </a:prstGeom>
          <a:solidFill>
            <a:srgbClr val="F5F6F8"/>
          </a:solidFill>
          <a:ln w="1524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8727" y="2176272"/>
            <a:ext cx="5364327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9895" y="2404872"/>
            <a:ext cx="49619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Q: Koja godina je donesen TCP/IP standard?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2907792"/>
            <a:ext cx="496199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1F2937"/>
                </a:solidFill>
                <a:latin typeface="Calibri"/>
              </a:rPr>
              <a:t>A: 1983.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3410712"/>
            <a:ext cx="496199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source_line: "1. januara 1983. ARPANET je presao na TCP/IP protokol stek."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9895" y="4096512"/>
            <a:ext cx="496199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17055" y="4206240"/>
            <a:ext cx="468767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OK Fuzzy match: 0.94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7055" y="4462272"/>
            <a:ext cx="468767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Navod nađen u PDF-u, sekcija 2.1, str. 14. Pitanje prolazi automatsku validaciju i ide u QuestionBank.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0760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4B5563"/>
                </a:solidFill>
                <a:latin typeface="Calibri"/>
              </a:rPr>
              <a:t>Pal et al. (2023): bez RAG/grounding-a, GPT-4 ima 15-20% stopu halucinacije na faktičkim pitanjima.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B - KLJUČNA PORUKA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Ključna poruka segmenta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051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C25700"/>
                </a:solidFill>
                <a:latin typeface="Calibri"/>
              </a:rPr>
              <a:t>Ključna poruka segmenta B</a:t>
            </a:r>
          </a:p>
        </p:txBody>
      </p:sp>
      <p:sp>
        <p:nvSpPr>
          <p:cNvPr id="5" name="Rectangle 4"/>
          <p:cNvSpPr/>
          <p:nvPr/>
        </p:nvSpPr>
        <p:spPr>
          <a:xfrm>
            <a:off x="1380721" y="2450592"/>
            <a:ext cx="9430252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80721" y="2450592"/>
            <a:ext cx="9430252" cy="30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46481" y="2816352"/>
            <a:ext cx="8698732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1">
                <a:solidFill>
                  <a:srgbClr val="1B365D"/>
                </a:solidFill>
                <a:latin typeface="Calibri"/>
              </a:rPr>
              <a:t>Ontologija je ugovor između LLM-a i sistema: ono sto LLM proizvede mora se mapirati na klase i relacije. To filtrira halucinacije i omogućava ponovnu upotrebu sadržaja.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93792"/>
            <a:ext cx="35762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C25700"/>
                </a:solidFill>
                <a:latin typeface="Calibri"/>
              </a:rPr>
              <a:t>OWL/RDF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59552"/>
            <a:ext cx="357621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4B5563"/>
                </a:solidFill>
                <a:latin typeface="Calibri"/>
              </a:rPr>
              <a:t>definicija strukture i instanci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7738" y="5193792"/>
            <a:ext cx="35762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C25700"/>
                </a:solidFill>
                <a:latin typeface="Calibri"/>
              </a:rPr>
              <a:t>SPARQL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7738" y="5559552"/>
            <a:ext cx="357621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4B5563"/>
                </a:solidFill>
                <a:latin typeface="Calibri"/>
              </a:rPr>
              <a:t>kontrola toka i upita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6836" y="5193792"/>
            <a:ext cx="35762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C25700"/>
                </a:solidFill>
                <a:latin typeface="Calibri"/>
              </a:rPr>
              <a:t>Anchor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6836" y="5559552"/>
            <a:ext cx="357621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4B5563"/>
                </a:solidFill>
                <a:latin typeface="Calibri"/>
              </a:rPr>
              <a:t>vezivanje pitanja za izvor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C060"/>
                </a:solidFill>
                <a:latin typeface="Calibri"/>
              </a:rPr>
              <a:t>SEGMENT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Evaluacija, kvalitet i ograničenja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60520"/>
            <a:ext cx="1371600" cy="40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D1D5DB"/>
                </a:solidFill>
                <a:latin typeface="Calibri"/>
              </a:rPr>
              <a:t>Kvalitet opada sa kognitivnom složenošću - to opravdava human-in-the-loop.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4C9D4"/>
                </a:solidFill>
                <a:latin typeface="Calibri"/>
              </a:rPr>
              <a:t>25 min  /  9 slajdova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C - A-PRIORI VALIDACIJA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Pre nego sto student vidi pitanje - 3 sloja provere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Cela 'baterija' tehnika iz literature: prevent + generate + detect, sve pre čoveka.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Pre nego sto bilo koji student vidi pitanje - 3 sloja provere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Isti rule kodovi (H14, H17, H22, H27, ...) postoje i u promptu (prevent) i u lint-u (detect).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21992"/>
            <a:ext cx="11094415" cy="122529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221992"/>
            <a:ext cx="137160" cy="1225296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95144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1. PREVENTION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Pre LLM poziva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95144"/>
            <a:ext cx="8168335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PS4 template (Scaria 2024) - role + def + 1 worked example + CoT + schema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Haladyna 2002 rules in prompt: S1-S4 (stem), O1-O7 (options)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Typed distractor strategies po SOLO nivou (Bitew 2023 + Sadler 1998)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Ontology anchor block za relacionalna/EA pitanja (KAQG 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84448"/>
            <a:ext cx="11094415" cy="122529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584448"/>
            <a:ext cx="137160" cy="1225296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C25700"/>
                </a:solidFill>
                <a:latin typeface="Calibri"/>
              </a:rPr>
              <a:t>2.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684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LLM poziv + source grounding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657600"/>
            <a:ext cx="8168335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Ollama Qwen 2.5 14B, single call, JSON mode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Verbatim source_line citacija (lagani RAG - Lewis 2020)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Two-pass orchestration za Extended Abstract (Bitew 2023)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Self-consistency best-of-N (Wang 2022) za high-stakes generisanje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46904"/>
            <a:ext cx="11094415" cy="122529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946904"/>
            <a:ext cx="137160" cy="1225296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02005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3.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309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Posle LLM-a, pre čoveka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5020056"/>
            <a:ext cx="8168335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Haladyna lint (11 pravila, 0-100 skor) + Embedding plausibility/diversity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Chain-of-Verification (Dhuliawala 2023) - LLM proverava sebe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Solvability test (LLM kao slep solver) + SOLO judge (Cohen's kappa)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Concept coverage v2 (Kurdi 2020) + IOC + readability + ambiguity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C - HALADYNA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Haladyna item-writing pravila - prevent + detect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Ista pravila u promptu i u lint-u - lint flag se može kvotirati nazad u prompt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Haladyna et al. (2002) - 31 pravilo, 11 automatizovanih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6432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Validovano nad 27 udžbenika i 27 empirijskih studija.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39112"/>
          <a:ext cx="5364327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Kod</a:t>
                      </a:r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Pravilo</a:t>
                      </a:r>
                    </a:p>
                  </a:txBody>
                  <a:tcPr marT="54864" marB="54864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H14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Stem se završava pitanjem ili jasnim imperativom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H16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Stem ispod ~250 znakova, bez ukrasa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H17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Izbeći negaciju (ili je istakni)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H19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Tačno jedna tačna opcija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H22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Nijedne dve opcije nisu parafraze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H24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Najduža opcija &lt;= 2x najkraća (length clue)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H25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Nikad 'all/none of the above'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H27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Tačna opcija NIJE najduža (give-away)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4172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O7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F2937"/>
                          </a:solidFill>
                          <a:latin typeface="Calibri"/>
                        </a:rPr>
                        <a:t>Sve opcije gramatički paralelne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78727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Hybrid: ista pravila u promptu I u lint-u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947672"/>
            <a:ext cx="5364327" cy="96621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78727" y="1947672"/>
            <a:ext cx="91440" cy="966216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895" y="2020824"/>
            <a:ext cx="50900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PROMPT (prevent)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895" y="2295144"/>
            <a:ext cx="50900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STEM_RULES + OPTION_RULES sekcije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895" y="2514600"/>
            <a:ext cx="5090007" cy="371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LLM eksplicitno čita 11 numerisanih ograničenja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823731" y="2932176"/>
            <a:ext cx="274320" cy="237744"/>
          </a:xfrm>
          <a:prstGeom prst="downArrow">
            <a:avLst/>
          </a:prstGeom>
          <a:solidFill>
            <a:srgbClr val="C2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78727" y="3188208"/>
            <a:ext cx="5364327" cy="96621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8727" y="3188208"/>
            <a:ext cx="91440" cy="966216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9895" y="3261360"/>
            <a:ext cx="50900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25700"/>
                </a:solidFill>
                <a:latin typeface="Calibri"/>
              </a:rPr>
              <a:t>LLM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9895" y="3535680"/>
            <a:ext cx="50900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Ollama Qwen 2.5 14B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9895" y="3755136"/>
            <a:ext cx="5090007" cy="371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Generiše JSON sa stem, correct, distractors, source_line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823731" y="4172712"/>
            <a:ext cx="274320" cy="237744"/>
          </a:xfrm>
          <a:prstGeom prst="downArrow">
            <a:avLst/>
          </a:prstGeom>
          <a:solidFill>
            <a:srgbClr val="C2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78727" y="4428744"/>
            <a:ext cx="5364327" cy="96621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8727" y="4428744"/>
            <a:ext cx="91440" cy="966216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9895" y="4501896"/>
            <a:ext cx="50900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LINT (detect)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9895" y="4776216"/>
            <a:ext cx="50900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mcq_lint.py rule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9895" y="4995672"/>
            <a:ext cx="5090007" cy="371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Skenira izlaz, vraća H-flag-ove + 0-100 composite skor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727" y="5806440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C25700"/>
                </a:solidFill>
                <a:latin typeface="Calibri"/>
              </a:rPr>
              <a:t>Isti rule kod (H22) i u promptu i u lint-u - lint flag se može kvotirati nazad u prompt rule.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C - LLM-AS-JUDGE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LLM kao kritičar samog sebe - CoVe, Solvability, SOLO judge, IOC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Posle generisanja, pre čoveka: drugi LLM (ili isti sa drugacijim promptom) procenjuje izlaz.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LLM kao kritičar samog sebe - 4 tehnike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Calibri"/>
              </a:rPr>
              <a:t>Drugi LLM (ili isti sa različitim promptom + temp=0.1) procenjuje izlaz prvog.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57984"/>
            <a:ext cx="5464911" cy="1975104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157984"/>
            <a:ext cx="5464911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322576"/>
            <a:ext cx="50625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CoVe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6383" y="2322576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1">
                <a:solidFill>
                  <a:srgbClr val="4B5563"/>
                </a:solidFill>
                <a:latin typeface="Calibri"/>
              </a:rPr>
              <a:t>Dhuliawala et al. (2023)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42616"/>
            <a:ext cx="50625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C25700"/>
                </a:solidFill>
                <a:latin typeface="Calibri"/>
              </a:rPr>
              <a:t>Chain-of-Verification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916936"/>
            <a:ext cx="36576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026664"/>
            <a:ext cx="5062575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1. uzmi pitanje + tačan odgovor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2. planiraj 2-3 kratka verifikacijska pitanja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3. odgovori NA SVAKO nezavisno (samo iz izvora)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4. sudi: SUPPORTED / UNDERDETERMINED / CONTRADICTED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Hvata slučaj kad citat postoji, ali NE opravdava odgovor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3" y="2157984"/>
            <a:ext cx="5464912" cy="1962672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8143" y="2157984"/>
            <a:ext cx="5464911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9311" y="2322576"/>
            <a:ext cx="50625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Solvability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5887" y="2322576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1">
                <a:solidFill>
                  <a:srgbClr val="4B5563"/>
                </a:solidFill>
                <a:latin typeface="Calibri"/>
              </a:rPr>
              <a:t>Crocker &amp; Algina (1986) p-value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9311" y="2642616"/>
            <a:ext cx="50625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C25700"/>
                </a:solidFill>
                <a:latin typeface="Calibri"/>
              </a:rPr>
              <a:t>LLM kao slep solver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9311" y="2916936"/>
            <a:ext cx="36576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9311" y="3026664"/>
            <a:ext cx="5062575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Sakrij key, izmesaj redosled opcija, N=5 prolaza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 ~ 1.0 -&gt; trivijalno (ili length clue)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0.6-0.9 -&gt; primerena težina za LLM-class solver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 &lt; 0.5 -&gt; misframed / ključ pogrešan / out of source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Sintetički analog klasičnog test-theory difficulty indeksa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15384"/>
            <a:ext cx="5464911" cy="232257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215384"/>
            <a:ext cx="5464911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4379976"/>
            <a:ext cx="50625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SOLO judge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6383" y="4379976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1">
                <a:solidFill>
                  <a:srgbClr val="4B5563"/>
                </a:solidFill>
                <a:latin typeface="Calibri"/>
              </a:rPr>
              <a:t>Landis &amp; Koch (1977)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700016"/>
            <a:ext cx="50625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C25700"/>
                </a:solidFill>
                <a:latin typeface="Calibri"/>
              </a:rPr>
              <a:t>Nezavisna klasifikacija + Cohen's kappa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4974336"/>
            <a:ext cx="36576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5084064"/>
            <a:ext cx="5062575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Drugi LLM klasifikuje pitanje u SOLO nivo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Bez znanja koji je nivo generator trazio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kappa &lt; 0.20 slight | 0.41-0.60 moderate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0.61-0.80 substantial | 0.81+ almost perfect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A-priori provera 'da li pogođeno SOLO' bez studenata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8143" y="4215384"/>
            <a:ext cx="5464912" cy="232257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8143" y="4215384"/>
            <a:ext cx="5464911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79311" y="4379976"/>
            <a:ext cx="506257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IOC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5887" y="4379976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1">
                <a:solidFill>
                  <a:srgbClr val="4B5563"/>
                </a:solidFill>
                <a:latin typeface="Calibri"/>
              </a:rPr>
              <a:t>Rovinelli &amp; Hambleton (1977)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9311" y="4700016"/>
            <a:ext cx="50625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C25700"/>
                </a:solidFill>
                <a:latin typeface="Calibri"/>
              </a:rPr>
              <a:t>Item-Objective Congruence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9311" y="4974336"/>
            <a:ext cx="36576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79311" y="5084064"/>
            <a:ext cx="5062575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Za svaki item: ocena -1 / 0 / +1 vs ishod učenja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Da li ovo pitanje meri BAS ovaj ishod?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IOC index = srednja vrednost, [-1, +1]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&gt;= 0.5 prihvatljivo, &gt;= 0.75 jako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Content validity - prvi sloj psihometrije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C -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Pilot evaluacija SOLO pitanja - ljudska anotacija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Posle automatske validacije: tim + nezavisan recenzent, 4 dimenzije, Likert 1-5.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Pilot evaluacija SOLO pitanja (Uroš)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CILJ EVALUACIJE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Da li je kvalitet konstantan kroz SOLO nivoe?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Da li distraktori postaju lažni / slabi na višim nivoima?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METODOLOGIJA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Više PDF lekcija iz različitih domena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N pitanja po nivou, ručna anotacija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Sudije: članovi tima + nezavisni recenzent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Metrike: valjanost, kvalitet distraktora, source-line tačnost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FORMAT IZLAZA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Skor na skali 1-5 po dimenziji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Komentari za kvalitativnu analizu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1444752"/>
            <a:ext cx="5364327" cy="4727448"/>
          </a:xfrm>
          <a:prstGeom prst="rect">
            <a:avLst/>
          </a:prstGeom>
          <a:solidFill>
            <a:srgbClr val="EEEF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78727" y="344271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000" b="1" i="0">
                <a:solidFill>
                  <a:srgbClr val="4B5563"/>
                </a:solidFill>
                <a:latin typeface="Calibri"/>
              </a:rPr>
              <a:t>[ Slika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385419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4B5563"/>
                </a:solidFill>
                <a:latin typeface="Calibri"/>
              </a:rPr>
              <a:t>Tabela metrike po nivou / domenu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C - REZULTATI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Rezultati - kvalitet po SOLO nivou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Validnost i kvalitet distraktora padaju kako se ide ka EA nivou.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Rezultati - kvalitet po SOLO nivou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1371600" cy="7840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Unistructural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2019566"/>
            <a:ext cx="3901287" cy="5488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965960" y="2019566"/>
            <a:ext cx="3589184" cy="54886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46584" y="1901952"/>
            <a:ext cx="640080" cy="7840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50642"/>
            <a:ext cx="1371600" cy="7840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Multistructural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2968256"/>
            <a:ext cx="3901287" cy="5488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965960" y="2968256"/>
            <a:ext cx="3316094" cy="54886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73494" y="2850642"/>
            <a:ext cx="640080" cy="7840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99332"/>
            <a:ext cx="1371600" cy="7840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Relational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3916946"/>
            <a:ext cx="3901287" cy="5488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65960" y="3916946"/>
            <a:ext cx="2730901" cy="54886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88301" y="3799332"/>
            <a:ext cx="640080" cy="7840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48022"/>
            <a:ext cx="1371600" cy="7840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Extended Abstract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4865636"/>
            <a:ext cx="3901287" cy="54886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65960" y="4865636"/>
            <a:ext cx="2145708" cy="54886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3108" y="4748022"/>
            <a:ext cx="640080" cy="7840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23560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Orijentaciono, N=80 anotiranih pitanja iz 4 lekcije OS-a (2 člana tima + 1 nezavisni recenzent). Brojke se prosiruju u publikaciji.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Šta vidimo u rezultatima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Validnost odgovora pada sa porastom SOLO nivoa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Distraktori postaju manje uverljivi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EA: često se 'distraktor' može odbraniti kao tačan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STRUKTURNA POSLEDICA - NIJE BUG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Lister et al. (2006): EA zadaci su strukturalno teško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i za STUDENTE programiranja - nije iznenađenje da i LLM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tu zaostaje. Razlog je isti: transfer između konteksta.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POSLEDICA ZA SISTEM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Two-pass + typed distractors pomazu, ne rešavaju potpuno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Ontology anchor stabilizuje relacionalna pitanja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Na EA nivou - obavezna recenzija nastavnika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C - PRIMERI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Primeri SOLO pitanja iz domena Operativnih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Primeri pitanja po SOLO nivoima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01952"/>
            <a:ext cx="11094415" cy="964692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901952"/>
            <a:ext cx="109728" cy="96469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UNISTRUCTURAL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993392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Q: Koja struktura procesa čuva PID?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96312"/>
            <a:ext cx="8534095" cy="324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1F2937"/>
                </a:solidFill>
                <a:latin typeface="Calibri"/>
              </a:rPr>
              <a:t>A: PCB - Process Control Block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03804"/>
            <a:ext cx="11094415" cy="964692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003804"/>
            <a:ext cx="109728" cy="96469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09524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MULTISTRUCTURAL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95244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Q: Koja tri stanja procesa najčešće prepoznajemo?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598164"/>
            <a:ext cx="8534095" cy="324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1F2937"/>
                </a:solidFill>
                <a:latin typeface="Calibri"/>
              </a:rPr>
              <a:t>A: Ready, Running, Blocked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05656"/>
            <a:ext cx="11094415" cy="964692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109728" cy="96469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9709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RELATIONAL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197096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Q: Kako kontekstno prebacivanje utiče na throughput sistema?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700016"/>
            <a:ext cx="8534095" cy="324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1F2937"/>
                </a:solidFill>
                <a:latin typeface="Calibri"/>
              </a:rPr>
              <a:t>A: Povecava overhead, smanjuje koristan rad CPU-a.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07508"/>
            <a:ext cx="11094415" cy="964692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5207508"/>
            <a:ext cx="109728" cy="96469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29894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EXTENDED ABSTRACT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298948"/>
            <a:ext cx="8534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Q: Kako biste prilagodili scheduling algoritam za real-time sistem sa zagarantovanim deadline-om?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801868"/>
            <a:ext cx="8534095" cy="324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1F2937"/>
                </a:solidFill>
                <a:latin typeface="Calibri"/>
              </a:rPr>
              <a:t>A: EDF / RM, prioritet po roku, preemption, 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C - LUKA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Luka - Bloomova pokrivenost generisanih kurseva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Vidimo gde sistem dobro pokriva nivoe, a gde tek 'dotiče' viša mišljenja.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Bloomova pokrivenost (Luka)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METRIKA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Da li su zastupljeni svi Bloomovi nivoi?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Koliko aktivnosti po nivou?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Da li su ishodi mapirani na više od jednog nivoa?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PRISTUP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LLM eksplicitno traži po svakom nivou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Sistem ne prelazi na sledeći nivo dok prethodni nije mapiran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Dedup po (ishod, aktivnost_tip)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NALAZ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Najbolji rezultati: Pamtiti i Razumeti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Slabiji: Evaluirati i Kreirati - često se 'dotiknu' samo povrsno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1444752"/>
            <a:ext cx="5364327" cy="4727448"/>
          </a:xfrm>
          <a:prstGeom prst="rect">
            <a:avLst/>
          </a:prstGeom>
          <a:solidFill>
            <a:srgbClr val="EEEF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78727" y="344271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000" b="1" i="0">
                <a:solidFill>
                  <a:srgbClr val="4B5563"/>
                </a:solidFill>
                <a:latin typeface="Calibri"/>
              </a:rPr>
              <a:t>[ Slika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385419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4B5563"/>
                </a:solidFill>
                <a:latin typeface="Calibri"/>
              </a:rPr>
              <a:t>Bar chart - broj aktivnosti po Bloomovom nivou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C - STEFAN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Stefan - robustnost izvršenja video tutorijala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Vision modeli su odlični, ali ne savršeni - non-standard UI je glavna bolna tačka.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UI detekcija - šta sve može da pukne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VISION MODEL: QWEN 2.5 VL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Trazi UI element po opisu (lokacija + box)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OGRANIČENJA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Non-standard UI frameworks (custom controls)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Brzo menjajuce interfejse (animacije, lazy load)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Nizak kontrast / non-English labele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Multi-monitor setup - samo primarni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POSLEDICE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Step fail - sistem zaustavlja izvršenje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Video se završava 'kratko' (do tačke prekida)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Logujemo gde je tačno puklo - olaksava debug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Testirane aplikacije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901952"/>
            <a:ext cx="5364327" cy="47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78727" y="1901952"/>
            <a:ext cx="73152" cy="4724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607" y="1901952"/>
            <a:ext cx="3218596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Visual Studio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4610" y="1901952"/>
            <a:ext cx="1931157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 i="0">
                <a:solidFill>
                  <a:srgbClr val="1B365D"/>
                </a:solidFill>
                <a:latin typeface="Calibri"/>
              </a:rPr>
              <a:t>Stabilno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429256"/>
            <a:ext cx="5364327" cy="47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78727" y="2429256"/>
            <a:ext cx="73152" cy="4724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1607" y="2429256"/>
            <a:ext cx="3218596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VS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4610" y="2429256"/>
            <a:ext cx="1931157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 i="0">
                <a:solidFill>
                  <a:srgbClr val="1B365D"/>
                </a:solidFill>
                <a:latin typeface="Calibri"/>
              </a:rPr>
              <a:t>Stabilno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2956560"/>
            <a:ext cx="5364327" cy="47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727" y="2956560"/>
            <a:ext cx="73152" cy="4724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607" y="2956560"/>
            <a:ext cx="3218596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Chrome / Firefox / Edge / Opera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4610" y="2956560"/>
            <a:ext cx="1931157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 i="0">
                <a:solidFill>
                  <a:srgbClr val="1B365D"/>
                </a:solidFill>
                <a:latin typeface="Calibri"/>
              </a:rPr>
              <a:t>Stabilno (web)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3483864"/>
            <a:ext cx="5364327" cy="47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78727" y="3483864"/>
            <a:ext cx="73152" cy="47244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1607" y="3483864"/>
            <a:ext cx="3218596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Notepad / Notepad++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4610" y="3483864"/>
            <a:ext cx="1931157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 i="0">
                <a:solidFill>
                  <a:srgbClr val="1B365D"/>
                </a:solidFill>
                <a:latin typeface="Calibri"/>
              </a:rPr>
              <a:t>Stabilno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727" y="4011168"/>
            <a:ext cx="5364327" cy="47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78727" y="4011168"/>
            <a:ext cx="73152" cy="47244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1607" y="4011168"/>
            <a:ext cx="3218596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Custom WinForms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4610" y="4011168"/>
            <a:ext cx="1931157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 i="0">
                <a:solidFill>
                  <a:srgbClr val="C25700"/>
                </a:solidFill>
                <a:latin typeface="Calibri"/>
              </a:rPr>
              <a:t>Nestabilno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8727" y="4538472"/>
            <a:ext cx="5364327" cy="472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78727" y="4538472"/>
            <a:ext cx="73152" cy="47244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61607" y="4538472"/>
            <a:ext cx="3218596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365D"/>
                </a:solidFill>
                <a:latin typeface="Calibri"/>
              </a:rPr>
              <a:t>Web app sa lazy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4610" y="4538472"/>
            <a:ext cx="1931157" cy="472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 i="0">
                <a:solidFill>
                  <a:srgbClr val="C25700"/>
                </a:solidFill>
                <a:latin typeface="Calibri"/>
              </a:rPr>
              <a:t>Nestabilno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78727" y="5202936"/>
            <a:ext cx="5364327" cy="877824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78727" y="5202936"/>
            <a:ext cx="91440" cy="877824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1607" y="5257800"/>
            <a:ext cx="509000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BENCHMARK REFERENCA - OSWorld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1607" y="5532120"/>
            <a:ext cx="5090007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Anthropic Computer Use (10/2024): 14.9%   |   Claude 3.5 Sonnet (12/2024): ~22%   |   Najbolji open-source vision agent: ~12%.
Nas pristup nije autonomni agent već eksplicitan plan - izbegavamo open-ended traženje sledećeg klika.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C - UROŠ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PDF Coverage Tracking - heatmap pokrivenosti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Sistem sam ti kaže gde da generises jos pitanja.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PDF Coverage Tracking (Uroš)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ŠTA MERI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Koje su stranice PDF-a pokrivene pitanjima?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Ponderisana pokrivenost po broju znakova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Sustinska pokrivenost (izuzima skoro prazne stranice)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VIZUALNO - HEATMAP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Bar po stranici, visina = broj znakova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Boja = da li je stranica pokrivena pitanjima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Lista suštinskih stranica bez pitanja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POSLEDICA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Sistem ti sam kaže gde da generises jos pitanja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Heatmap je 'second pair of eyes' za nastavnika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1444752"/>
            <a:ext cx="5364327" cy="4727448"/>
          </a:xfrm>
          <a:prstGeom prst="rect">
            <a:avLst/>
          </a:prstGeom>
          <a:solidFill>
            <a:srgbClr val="EEEF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78727" y="344271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000" b="1" i="0">
                <a:solidFill>
                  <a:srgbClr val="4B5563"/>
                </a:solidFill>
                <a:latin typeface="Calibri"/>
              </a:rPr>
              <a:t>[ Slika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3854196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4B5563"/>
                </a:solidFill>
                <a:latin typeface="Calibri"/>
              </a:rPr>
              <a:t>Coverage heatmap - screenshot iz UI-ja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C - HITL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Granice automatizacije i 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Sistem snima 80% rada; čovek validira i fino podešava.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Granice automatizacije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Definisanje ishoda - zahteva pedagošku procenu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Procena težine pitanja u kontekstu grupe - dinamički kontekst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Procena EA pitanja - često dvosmislena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Recenzija video tutorijala - da li je didaktički dobar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Konačno korigovanje halucinacija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SVE OVO RADI - ČOVEK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Sistem snima pripremu (do 80% rada)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Čovek validira i fino podešava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Human-in-the-loop u nasem pipeline-u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901952"/>
            <a:ext cx="5364327" cy="98526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78727" y="1901952"/>
            <a:ext cx="73152" cy="985266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7327" y="1993392"/>
            <a:ext cx="50900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1. Sistem generiše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313432"/>
            <a:ext cx="5090007" cy="528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Struktura, pitanja, video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996946"/>
            <a:ext cx="5364327" cy="98526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78727" y="2996946"/>
            <a:ext cx="73152" cy="985266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7327" y="3088386"/>
            <a:ext cx="50900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2. Nastavnik pregleda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3408426"/>
            <a:ext cx="5090007" cy="528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source_line + ontology anchor + coverage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4091940"/>
            <a:ext cx="5364327" cy="98526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727" y="4091940"/>
            <a:ext cx="73152" cy="985266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7327" y="4183380"/>
            <a:ext cx="50900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3. Nastavnik koriguje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4503420"/>
            <a:ext cx="5090007" cy="528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Edituje pitanja, raspoređuje aktivnosti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5186934"/>
            <a:ext cx="5364327" cy="985266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78727" y="5186934"/>
            <a:ext cx="73152" cy="985266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7327" y="5278374"/>
            <a:ext cx="50900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4. Sistem belezi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598414"/>
            <a:ext cx="5090007" cy="528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Promene u DB - feedback za buduće generisanje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C - KLJUČNA PORUKA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Ključna poruka segmenta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1051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C25700"/>
                </a:solidFill>
                <a:latin typeface="Calibri"/>
              </a:rPr>
              <a:t>Ključna poruka segmenta C</a:t>
            </a:r>
          </a:p>
        </p:txBody>
      </p:sp>
      <p:sp>
        <p:nvSpPr>
          <p:cNvPr id="5" name="Rectangle 4"/>
          <p:cNvSpPr/>
          <p:nvPr/>
        </p:nvSpPr>
        <p:spPr>
          <a:xfrm>
            <a:off x="1380721" y="2450592"/>
            <a:ext cx="9430252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80721" y="2450592"/>
            <a:ext cx="9430252" cy="30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46481" y="2816352"/>
            <a:ext cx="8698732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1">
                <a:solidFill>
                  <a:srgbClr val="1B365D"/>
                </a:solidFill>
                <a:latin typeface="Calibri"/>
              </a:rPr>
              <a:t>Kvalitet automatski generisanog sadržaja opada sa porastom kognitivne složenosti - to nije bug, već strukturna posledica, i upravo zato je human-in-the-loop obavezan.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5C060"/>
                </a:solidFill>
                <a:latin typeface="Calibri"/>
              </a:rPr>
              <a:t>SEGMENT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Sinteza, budući rad, zaključak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60520"/>
            <a:ext cx="1371600" cy="40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106372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D1D5DB"/>
                </a:solidFill>
                <a:latin typeface="Calibri"/>
              </a:rPr>
              <a:t>Kako tri komponente postaju jedan sistem - i šta sledi.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4C9D4"/>
                </a:solidFill>
                <a:latin typeface="Calibri"/>
              </a:rPr>
              <a:t>10-15 min  /  7 slajdova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D - ARHITEKTURA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Predlog integrisane arhitekture - 4 sloja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Sloj po sloj: planiranje -&gt; znanje -&gt; procena -&gt; demonstracija.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Integrisana arhitektura - predlog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SLOJ 1 - COURSE PLANNER (LUKA)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Strukturu kursa generiše iz ishoda + PDF-a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Izlaz: JSON / OWL hijerarhija aktivnosti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SLOJ 2 - KNOWLEDGE LAYER (UROŠ)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ConceptRelationship ontologija iz lekcija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Source-of-truth za relacije pojmova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SLOJ 3 - ASSESSMENT (UROŠ)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SOLO pitanja, ankored na knowledge layer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SLOJ 4 - DEMONSTRATION (STEFAN)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Praktiche aktivnosti -&gt; NL instrukcija -&gt; video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1444752"/>
            <a:ext cx="5364327" cy="953262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78727" y="1444752"/>
            <a:ext cx="109728" cy="95326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7327" y="1536192"/>
            <a:ext cx="34868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1. Course 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33756" y="1536192"/>
            <a:ext cx="15020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C25700"/>
                </a:solidFill>
                <a:latin typeface="Calibri"/>
              </a:rPr>
              <a:t>LUKA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1901952"/>
            <a:ext cx="5044287" cy="496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Ulaz: ishodi + PDF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823731" y="2416302"/>
            <a:ext cx="274320" cy="237744"/>
          </a:xfrm>
          <a:prstGeom prst="downArrow">
            <a:avLst/>
          </a:prstGeom>
          <a:solidFill>
            <a:srgbClr val="C2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78727" y="2672334"/>
            <a:ext cx="5364327" cy="953262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78727" y="2672334"/>
            <a:ext cx="109728" cy="95326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7327" y="2763774"/>
            <a:ext cx="34868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2. Knowledge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3756" y="2763774"/>
            <a:ext cx="15020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C25700"/>
                </a:solidFill>
                <a:latin typeface="Calibri"/>
              </a:rPr>
              <a:t>UROŠ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3129534"/>
            <a:ext cx="5044287" cy="496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ConceptRelationship ontologija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823731" y="3643884"/>
            <a:ext cx="274320" cy="237744"/>
          </a:xfrm>
          <a:prstGeom prst="downArrow">
            <a:avLst/>
          </a:prstGeom>
          <a:solidFill>
            <a:srgbClr val="C2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78727" y="3899916"/>
            <a:ext cx="5364327" cy="953262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78727" y="3899916"/>
            <a:ext cx="109728" cy="95326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07327" y="3991356"/>
            <a:ext cx="34868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3. Assessment + Demonstration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33756" y="3991356"/>
            <a:ext cx="15020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C25700"/>
                </a:solidFill>
                <a:latin typeface="Calibri"/>
              </a:rPr>
              <a:t>UROŠ + STEFAN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4357116"/>
            <a:ext cx="5044287" cy="496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SOLO pitanja  |  OWL-validiran video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823731" y="4871466"/>
            <a:ext cx="274320" cy="237744"/>
          </a:xfrm>
          <a:prstGeom prst="downArrow">
            <a:avLst/>
          </a:prstGeom>
          <a:solidFill>
            <a:srgbClr val="C2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78727" y="5127498"/>
            <a:ext cx="5364327" cy="953262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78727" y="5127498"/>
            <a:ext cx="109728" cy="95326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07327" y="5218938"/>
            <a:ext cx="34868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4. Human-in-the-loop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3756" y="5218938"/>
            <a:ext cx="150201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C25700"/>
                </a:solidFill>
                <a:latin typeface="Calibri"/>
              </a:rPr>
              <a:t>NASTAVNIK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5584698"/>
            <a:ext cx="5044287" cy="496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Recenzija, korekcija,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D - ARHITEKTURA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Tok podataka kroz integrisan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Sest koraka, od ucitavanja materijala do recenzije nastavnika.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Tok podataka kroz integrisan sistem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01952"/>
            <a:ext cx="11094415" cy="63550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640080" cy="6355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640080" cy="6355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47672"/>
            <a:ext cx="10180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Nastavnik ucitava materijal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67712"/>
            <a:ext cx="10180015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PDF lekcije, lista ishoda, opis kursa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28900"/>
            <a:ext cx="11094415" cy="6355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628900"/>
            <a:ext cx="640080" cy="6355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628900"/>
            <a:ext cx="640080" cy="6355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74620"/>
            <a:ext cx="10180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Course Planner gradi strukturu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994660"/>
            <a:ext cx="10180015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Moduli -&gt; koncepti -&gt; ishodi -&gt; aktivnosti (Bloom-aware)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55848"/>
            <a:ext cx="11094415" cy="63550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355848"/>
            <a:ext cx="640080" cy="6355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355848"/>
            <a:ext cx="640080" cy="6355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01568"/>
            <a:ext cx="10180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Knowledge Layer ekstrahuje ontologiju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21608"/>
            <a:ext cx="10180015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Multi-pass LLM ekstrakcija ConceptRelationship-ova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82796"/>
            <a:ext cx="11094415" cy="6355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082796"/>
            <a:ext cx="640080" cy="6355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082796"/>
            <a:ext cx="640080" cy="6355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128516"/>
            <a:ext cx="10180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Assessment generiše SOLO pitanja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448556"/>
            <a:ext cx="10180015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Anchor iz Knowledge Layer-a, PS4 prompt, source_line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09744"/>
            <a:ext cx="11094415" cy="63550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809744"/>
            <a:ext cx="640080" cy="6355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809744"/>
            <a:ext cx="640080" cy="6355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855464"/>
            <a:ext cx="10180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Demonstration generiše video za praktičnu aktivnost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175504"/>
            <a:ext cx="10180015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NL instrukcija -&gt; OWL plan -&gt; validacija -&gt; izvršenje + snimanje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36692"/>
            <a:ext cx="11094415" cy="6355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5536692"/>
            <a:ext cx="640080" cy="635508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536692"/>
            <a:ext cx="640080" cy="6355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582412"/>
            <a:ext cx="101800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Nastavnik pregleda i koriguje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902452"/>
            <a:ext cx="10180015" cy="269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Coverage heatmap, source_line provera, video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D - VEZE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Veze sa drugim temama predmeta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DRL i Recommender Systems prirodno produžavaju ovaj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5410047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5410047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9528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Deep Reinforcement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49528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C25700"/>
                </a:solidFill>
                <a:latin typeface="Calibri"/>
              </a:rPr>
              <a:t>Adaptivno biranje pitanja i puta učenja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87752"/>
            <a:ext cx="54864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770632"/>
            <a:ext cx="4952847" cy="3127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State: profil studenta + istorija odgovora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Action: izbor narednog pitanja / aktivnosti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Reward: napredak na SOLO / Bloomovoj skali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Veza sa temom DRL for ITS sa liste predmeta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44752"/>
            <a:ext cx="5410047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3007" y="1444752"/>
            <a:ext cx="5410047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1607" y="1719072"/>
            <a:ext cx="49528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Recommender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221992"/>
            <a:ext cx="495284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C25700"/>
                </a:solidFill>
                <a:latin typeface="Calibri"/>
              </a:rPr>
              <a:t>Personalizacija puteva učenja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1607" y="2587752"/>
            <a:ext cx="54864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1607" y="2770632"/>
            <a:ext cx="4952847" cy="3127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Sadržaj-based: ontology anchor sluzi kao feature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Collaborative: studenti sa slicnim odgovorima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Hibridno: koristi obe signala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Veza sa temom Recommenders for 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D - BUDUCI RAD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Otvorena pitanja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Otvorena pitanja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01952"/>
            <a:ext cx="11094415" cy="766267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901952"/>
            <a:ext cx="457200" cy="76626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457200" cy="7662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47672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Kvalitet distraktora na EA nivou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67712"/>
            <a:ext cx="10362895" cy="40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Kako podići uverljivost bez gubitka SOLO 'tipa' greske?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77947"/>
            <a:ext cx="11094415" cy="766267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777947"/>
            <a:ext cx="457200" cy="76626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777947"/>
            <a:ext cx="457200" cy="7662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823667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Real-world evaluacija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43707"/>
            <a:ext cx="10362895" cy="40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Sistem nije jos testiran u stvarnoj učionici - to je sledeći korak.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3942"/>
            <a:ext cx="11094415" cy="766267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653942"/>
            <a:ext cx="457200" cy="76626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53942"/>
            <a:ext cx="457200" cy="7662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699662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Multimodalna procena znanja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19702"/>
            <a:ext cx="10362895" cy="40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Kako uracunati ne samo tekstualne odgovore već i praktične demonstracije?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9937"/>
            <a:ext cx="11094415" cy="766267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529937"/>
            <a:ext cx="457200" cy="76626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529937"/>
            <a:ext cx="457200" cy="7662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575657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Stabilnost vision modela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95697"/>
            <a:ext cx="10362895" cy="40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Custom UI ostaju izazov; integracija sa accessibility API-jima?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05932"/>
            <a:ext cx="11094415" cy="766267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405932"/>
            <a:ext cx="457200" cy="766267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405932"/>
            <a:ext cx="457200" cy="7662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Q5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451652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Skaliranje na više predmeta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771692"/>
            <a:ext cx="10362895" cy="400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Da li se ontologija prenosi između domena ili je svaki predmet svoja TBox?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D - ETIKA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Etika, privatnost i EU AI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Obrazovni AI je high-risk po EU AI Act-u - nas dizajn već adresira kljucne zahteve.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3545738" cy="42702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3545738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673352"/>
            <a:ext cx="314340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Privatnost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30552"/>
            <a:ext cx="314340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1B365D"/>
                </a:solidFill>
                <a:latin typeface="Calibri"/>
              </a:rPr>
              <a:t>Lokalni LLM (Ollama) nije slučajan izbor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770632"/>
            <a:ext cx="45720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935224"/>
            <a:ext cx="3143402" cy="2779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PDF nastavnog materijala često sadrzi IP fakulteta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Studentski podaci ne napuštaju mašinu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Zero per-call cost - skalabilno za institucije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2978" y="1444752"/>
            <a:ext cx="3545738" cy="42702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22978" y="1444752"/>
            <a:ext cx="3545738" cy="73152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4146" y="1673352"/>
            <a:ext cx="314340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Transparentnost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4146" y="2130552"/>
            <a:ext cx="314340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C25700"/>
                </a:solidFill>
                <a:latin typeface="Calibri"/>
              </a:rPr>
              <a:t>source_line + ontology anchor = audit trail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4146" y="2770632"/>
            <a:ext cx="45720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4146" y="2935224"/>
            <a:ext cx="3143402" cy="2779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Svako pitanje ima izvorni navod iz materijala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Svaka relacija ima tipiziranu vezu u ontologiji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Recenzent može da prati 'zašto' iza svake odluke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7316" y="1444752"/>
            <a:ext cx="3545738" cy="42702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7316" y="1444752"/>
            <a:ext cx="3545738" cy="73152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8484" y="1673352"/>
            <a:ext cx="314340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65D"/>
                </a:solidFill>
                <a:latin typeface="Calibri"/>
              </a:rPr>
              <a:t>EU AI Act (2024/2025)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8484" y="2130552"/>
            <a:ext cx="314340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1B365D"/>
                </a:solidFill>
                <a:latin typeface="Calibri"/>
              </a:rPr>
              <a:t>Obrazovni AI je klasifikovan kao high-risk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98484" y="2770632"/>
            <a:ext cx="457200" cy="15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98484" y="2935224"/>
            <a:ext cx="3143402" cy="2779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Striktna transparentnost: dokumentovati izvore i logiku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Obavezan ljudski oversight (human-in-the-loop)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Audit trail - ono sto nas dizajn već ima 'iz kutije'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4B5563"/>
                </a:solidFill>
                <a:latin typeface="Calibri"/>
              </a:rPr>
              <a:t>Nas dizajn nije optimizovan za AI Act - ali ga zadovoljava prirodno, zbog izbora ontology grounding-a i lokalnih modela.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D - BUDUCI RAD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Naredni koraci - kratki i duži rok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Naredni koraci - kratki rok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Spojiti tri repozitorijuma u jedan monorepo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Definisati API kontrakte između slojeva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Zajednička ontološka osnova (deljena seed_ontology)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Demo end-to-end pipe za jedan predmet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KONFERENCIJA SINTEZA 2026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Jedan rad iz tima već publikovan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Cilj: drugi rad o integraciji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444752"/>
            <a:ext cx="53643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B365D"/>
                </a:solidFill>
                <a:latin typeface="Calibri"/>
              </a:rPr>
              <a:t>Naredni koraci - duži rok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901952"/>
            <a:ext cx="5364327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Pilot u stvarnoj učionici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Adaptivno biranje pitanja (DRL prototip)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Personalizacija puta učenja (Recommender)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Multimodalna procena znanja (audio / kod / video)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Skaliranje na više predmeta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1F2937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300"/>
              </a:spcAft>
            </a:pPr>
            <a:r>
              <a:rPr sz="1100" b="1" i="0">
                <a:solidFill>
                  <a:srgbClr val="C25700"/>
                </a:solidFill>
                <a:latin typeface="Calibri"/>
              </a:rPr>
              <a:t>ETIKA I PRIVATNOST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Lokalni LLM kao osnovna opcija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 Pravo nastavnika na konačnu reč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SEGMENT D - ZAKLJUCAK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Zakljucak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Vracamo se na početnu poruku.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C25700"/>
                </a:solidFill>
                <a:latin typeface="Calibri"/>
              </a:rPr>
              <a:t>Šta smo pokazali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84832"/>
            <a:ext cx="11094415" cy="78409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084832"/>
            <a:ext cx="91440" cy="78409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76272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LLM sam nije dovoljan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96312"/>
            <a:ext cx="10728655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halucinacije + nedostatak strukture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33522"/>
            <a:ext cx="11094415" cy="78409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033522"/>
            <a:ext cx="91440" cy="78409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124962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Pedagoška taksonomija kalibrise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45002"/>
            <a:ext cx="10728655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Bloom + SOLO kao kompas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82212"/>
            <a:ext cx="11094415" cy="78409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982212"/>
            <a:ext cx="91440" cy="78409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73652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Ontologija filtrira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93692"/>
            <a:ext cx="10728655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OWL/SPARQL + source_line + ontology anchor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30902"/>
            <a:ext cx="11094415" cy="784098"/>
          </a:xfrm>
          <a:prstGeom prst="rect">
            <a:avLst/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930902"/>
            <a:ext cx="91440" cy="784098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022342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B365D"/>
                </a:solidFill>
                <a:latin typeface="Calibri"/>
              </a:rPr>
              <a:t>Human-in-the-loop ostaje obavezan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2382"/>
            <a:ext cx="10728655" cy="326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naročito na višim SOLO nivoima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0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ZAKLJUČNA MISAO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48495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 i="1">
                <a:solidFill>
                  <a:srgbClr val="1B365D"/>
                </a:solidFill>
                <a:latin typeface="Calibri"/>
              </a:rPr>
              <a:t>“LLM + ontologija + pedagoška taksonomija = pouzdano, pedagoški kalibrisano ITS okruženje koje je više od zbira svojih delova.”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484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4B5563"/>
                </a:solidFill>
                <a:latin typeface="Calibri"/>
              </a:rPr>
              <a:t>- ključna poruka prezentacije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2560320"/>
            <a:ext cx="1063721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Hvala na pažnji.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3840480"/>
            <a:ext cx="1097280" cy="4000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0"/>
            <a:ext cx="106372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1">
                <a:solidFill>
                  <a:srgbClr val="E5E7EB"/>
                </a:solidFill>
                <a:latin typeface="Calibri"/>
              </a:rPr>
              <a:t>Pitanja i diskusija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C4C9D4"/>
                </a:solidFill>
                <a:latin typeface="Calibri"/>
              </a:rPr>
              <a:t>Uroš Petrašković - Luka Šarić - Stefan Lazarević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2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LITERATURA - 1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Literatura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Pedagoške taksonomije i LLM u obrazovanju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C25700"/>
                </a:solidFill>
                <a:latin typeface="Calibri"/>
              </a:rPr>
              <a:t>Pedagoške taksonomije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Bloom, B.S. (1984). The 2 Sigma Problem. Educational Researcher, 13(6), 4-16.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03704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Biggs, J.B. &amp; Collis, K.F. (1982). Evaluating the Quality of Learning: The SOLO Taxonomy. Academic Press.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42616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Anderson, L.W. &amp; Krathwohl, D.R. (2001). A Taxonomy for Learning, Teaching, and Assessing. Longman.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81528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Lister, R., et al. (2006). Not Seeing the Forest for the Trees: Novice Programmers and the SOLO Taxonomy. ACM SIGCSE Bulletin, 38(3).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C25700"/>
                </a:solidFill>
                <a:latin typeface="Calibri"/>
              </a:rPr>
              <a:t>LLM u obrazovanju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Kasneci, E., et al. (2023). ChatGPT for good? Learning and Individual Differences, 103.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70832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Yan, L., et al. (2024). Practical and ethical challenges of LLMs in education. BJET, 55(1).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9744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Wang, S., et al. (2024). Large Language Models for Education: A Survey. arXiv:2403.18105.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48656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Kestin, G., et al. (2024). AI Tutoring Outperforms In-Class Active Learning. Preprint, PhysPort.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87568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Mollick, E. &amp; Mollick, L. (2023). Assigning AI: Seven Approaches for Students. Wharton, SSRN 4475995.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LITERATURA - 2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Literatura (nastavak)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Prompting strategije, QG i misconception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C25700"/>
                </a:solidFill>
                <a:latin typeface="Calibri"/>
              </a:rPr>
              <a:t>Prompting i generisanje pitanja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Scaria, N., et al. (2024). PS4 - Automated Educational QG at Bloom's Skill Levels. arXiv:2408.04394.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03704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Wei, J., et al. (2022). Chain-of-Thought Prompting Elicits Reasoning in LLMs. NeurIPS 2022. arXiv:2201.11903.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42616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Sweller, J. &amp; Cooper, G.A. (1985). The use of worked examples as a substitute for problem solving. Cognition &amp; Instruction 2(1).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81528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Wang, X., et al. (2023). Self-Consistency Improves CoT Reasoning. ICLR 2023. arXiv:2203.11171.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Kurdi, G., et al. (2020). A Systematic Review of Automatic Question Generation. IJAIED, 30(1).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50792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C25700"/>
                </a:solidFill>
                <a:latin typeface="Calibri"/>
              </a:rPr>
              <a:t>Distractor generation i misconception theory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70832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Bitew, S.K., et al. (2023). Distractor Generation with Predictive Prompting and LLMs. arXiv:2307.16338.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9744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Sadler, P.M. (1998). Psychometric Models of Student Conceptions in Science. JRST, 35(3).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48656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Liang, C., et al. (2018). Distractor Generation for MCQ Using Learning to Rank. NAACL Workshop.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87568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Aldabe, I., et al. (2009). Automatic Distractor Generation for Domain Specific Texts. LNCS 6233.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LITERATURA - 3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Literatura (nastavak)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Anti-halucinacija, RAG, item analysis i psihometrija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C25700"/>
                </a:solidFill>
                <a:latin typeface="Calibri"/>
              </a:rPr>
              <a:t>Anti-halucinacija i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Lewis, P., et al. (2020). Retrieval-Augmented Generation for Knowledge-Intensive NLP. NeurIPS 2020. arXiv:2005.11401.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03704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Dhuliawala, S., et al. (2023). Chain-of-Verification (CoVe). ACL Findings 2024. arXiv:2309.11495.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42616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Pal, A., et al. (2023). Med-HALT: Medical Domain Hallucination Test for LLMs. CoNLL 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81528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Zhang, T., et al. (2020). BERTScore: Evaluating Text Generation with BERT. ICLR 2020. arXiv:1904.09675.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Zheng, L., et al. (2023). Judging LLM-as-a-Judge with MT-Bench. NeurIPS 2023. arXiv:2306.05685.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50792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C25700"/>
                </a:solidFill>
                <a:latin typeface="Calibri"/>
              </a:rPr>
              <a:t>Item analysis i psihometrija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70832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Haladyna, T.M., Downing, S.M. &amp; Rodriguez, M.C. (2002). MCQ Item-Writing Guidelines. Applied Measurement in Education, 15(3).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9744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Rovinelli, R.J. &amp; Hambleton, R.K. (1977). Item-Objective Congruence (IOC). Dutch Journal of Educational Research, 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48656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Crocker, L. &amp; Algina, J. (1986). Introduction to Classical and Modern Test Theory. Holt, Rinehart and Winston.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87568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Landis, J.R. &amp; Koch, G.G. (1977). Observer Agreement for Categorical Data (Cohen's kappa). Biometrics, 33(1).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2648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Tarrant, M., et al. (2009). Item writing flaws in MCQs in high-stakes nursing assessments. Nurse Education in Practice, 9(3).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944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25700"/>
                </a:solidFill>
                <a:latin typeface="Calibri"/>
              </a:rPr>
              <a:t>LITERATURA - 4 /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B365D"/>
                </a:solidFill>
                <a:latin typeface="Calibri"/>
              </a:rPr>
              <a:t>Literatura (nastavak)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4B5563"/>
                </a:solidFill>
                <a:latin typeface="Calibri"/>
              </a:rPr>
              <a:t>Ontologije, ITS i multimodalni agenti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C25700"/>
                </a:solidFill>
                <a:latin typeface="Calibri"/>
              </a:rPr>
              <a:t>Ontologije i Semantic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Lin, C.-Y., et al. (2025). KAQG: Knowledge-Graph-Enhanced RAG for Difficulty-Controlled QG. arXiv:2505.07618.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03704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Vesin, B., et al. (2013). Ontology-based architecture with recommendation strategy in Java tutoring (ProTuS). CSIS, 10(1).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42616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Hogan, A., et al. (2021). Knowledge Graphs. ACM Computing Surveys, 54(4).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72968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C25700"/>
                </a:solidFill>
                <a:latin typeface="Calibri"/>
              </a:rPr>
              <a:t>Intelligent Tutoring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Mousavinasab, E., et al. (2021). ITS: systematic review. Interactive Learning Environments, 29(1).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Lin, C.-C., et al. (2023). AI in ITS toward sustainable education. Smart Learning Environments, 10(1).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70832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VanLehn, K. (2011). The Relative Effectiveness of Human Tutoring, ITS, and Other Tutoring Systems. Educational Psychologist, 46(4).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01184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C25700"/>
                </a:solidFill>
                <a:latin typeface="Calibri"/>
              </a:rPr>
              <a:t>Multimodalni agenti i Computer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21224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Anthropic (Oct 2024). Computer use model evaluation on OSWorld: 14.9% baseline.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0136"/>
            <a:ext cx="1091153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- Xie, T., et al. (2024). OSWorld: Benchmarking Multimodal Agents for Open-Ended Tasks. NeurIPS 2024.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LLM-driven ITS pipeline - Napredne tehnike računarske inteligencije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8225</Words>
  <Application>Microsoft Office PowerPoint</Application>
  <PresentationFormat>Widescreen</PresentationFormat>
  <Paragraphs>1208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Uros Petraskovic</cp:lastModifiedBy>
  <cp:revision>2</cp:revision>
  <dcterms:created xsi:type="dcterms:W3CDTF">2013-01-27T09:14:16Z</dcterms:created>
  <dcterms:modified xsi:type="dcterms:W3CDTF">2026-05-27T22:13:03Z</dcterms:modified>
  <cp:category/>
</cp:coreProperties>
</file>