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9" d="100"/>
          <a:sy n="79" d="100"/>
        </p:scale>
        <p:origin x="821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NAPREDNE TEHNIKE RACUNARSKE INTELIGENCIJE - MASTER, FTN UNS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10728655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1B365D"/>
                </a:solidFill>
                <a:latin typeface="Calibri"/>
              </a:rPr>
              <a:t>Od ishoda ucenja do automatizovanog ITS-a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383280"/>
            <a:ext cx="1097280" cy="30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3566160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1">
                <a:solidFill>
                  <a:srgbClr val="6B7280"/>
                </a:solidFill>
                <a:latin typeface="Calibri"/>
              </a:rPr>
              <a:t>LLM-driven pipeline za generisanje strukture kursa, video demonstracija i pitanja zasnovanih na SOLO taksonomiji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4864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Tim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76072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rgbClr val="1F2937"/>
                </a:solidFill>
                <a:latin typeface="Calibri"/>
              </a:rPr>
              <a:t>Uros Petraskovic - Luka Saric - Stefan Lazarevic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1792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2026.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Tim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Calibri"/>
              </a:rPr>
              <a:t>Tri projekta sa predmeta SOTIS - jedan integrisan ITS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1444752"/>
            <a:ext cx="3515258" cy="445312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444752"/>
            <a:ext cx="3515258" cy="7315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849069" y="1719072"/>
            <a:ext cx="914400" cy="914400"/>
          </a:xfrm>
          <a:prstGeom prst="ellipse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16352"/>
            <a:ext cx="305805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1B365D"/>
                </a:solidFill>
                <a:latin typeface="Calibri"/>
              </a:rPr>
              <a:t>Uros Petraskovic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182112"/>
            <a:ext cx="305805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1">
                <a:solidFill>
                  <a:srgbClr val="C25700"/>
                </a:solidFill>
                <a:latin typeface="Calibri"/>
              </a:rPr>
              <a:t>SOLO Quiz 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639312"/>
            <a:ext cx="3058058" cy="22585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Generisanje pitanja po SOLO taksonomiji uz ontoloski grounding i source-line citate.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38218" y="1444752"/>
            <a:ext cx="3515258" cy="445312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38218" y="1444752"/>
            <a:ext cx="3515258" cy="7315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5638647" y="1719072"/>
            <a:ext cx="914400" cy="914400"/>
          </a:xfrm>
          <a:prstGeom prst="ellipse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6818" y="2816352"/>
            <a:ext cx="305805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1B365D"/>
                </a:solidFill>
                <a:latin typeface="Calibri"/>
              </a:rPr>
              <a:t>Luka Saric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6818" y="3182112"/>
            <a:ext cx="305805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1">
                <a:solidFill>
                  <a:srgbClr val="C25700"/>
                </a:solidFill>
                <a:latin typeface="Calibri"/>
              </a:rPr>
              <a:t>Course Structure Generator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6818" y="3639312"/>
            <a:ext cx="3058058" cy="22585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Automatska struktura kursa po Bloomovoj taksonomiji - moduli, koncepti, ishodi.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27796" y="1444752"/>
            <a:ext cx="3515258" cy="445312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27796" y="1444752"/>
            <a:ext cx="3515258" cy="7315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9428225" y="1719072"/>
            <a:ext cx="914400" cy="914400"/>
          </a:xfrm>
          <a:prstGeom prst="ellipse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SL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6396" y="2816352"/>
            <a:ext cx="305805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1B365D"/>
                </a:solidFill>
                <a:latin typeface="Calibri"/>
              </a:rPr>
              <a:t>Stefan Lazarevic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6396" y="3182112"/>
            <a:ext cx="305805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1">
                <a:solidFill>
                  <a:srgbClr val="C25700"/>
                </a:solidFill>
                <a:latin typeface="Calibri"/>
              </a:rPr>
              <a:t>Computer Use Video Tutorials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6396" y="3639312"/>
            <a:ext cx="3058058" cy="22585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Video demonstracije praktickih zadataka uz OWL validaciju izvrsnog plana.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Predmet i kontekst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Calibri"/>
              </a:rPr>
              <a:t>Napredne tehnike racunarske inteligencije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5364327" cy="47274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PREDMET: NAPREDNE TEHNIKE RACUNARSKE INTELIGENCIJE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•  Master studije, FTN Univerzitet u Novom Sadu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•  Predavaci: dr Prokic i dr Kovacevic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TEMA U PRESEKU DVE OBLASTI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•  AI in (Computing) Education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•  Intelligent Tutoring Systems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FORMAT POLAGANJA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•  Snimljena prezentacija 1h - 1h30min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•  Demonstracija integrisanog ITS pipeline-a</a:t>
            </a:r>
          </a:p>
        </p:txBody>
      </p:sp>
      <p:sp>
        <p:nvSpPr>
          <p:cNvPr id="6" name="Rectangle 5"/>
          <p:cNvSpPr/>
          <p:nvPr/>
        </p:nvSpPr>
        <p:spPr>
          <a:xfrm>
            <a:off x="6278727" y="1444752"/>
            <a:ext cx="5364327" cy="4727448"/>
          </a:xfrm>
          <a:prstGeom prst="rect">
            <a:avLst/>
          </a:prstGeom>
          <a:solidFill>
            <a:srgbClr val="EEEF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278727" y="3442716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2000" b="1" i="0">
                <a:solidFill>
                  <a:srgbClr val="6B7280"/>
                </a:solidFill>
                <a:latin typeface="Calibri"/>
              </a:rPr>
              <a:t>[ Slika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8727" y="3854196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Logo FTN-a / vizual predmeta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Calibri"/>
              </a:rPr>
              <a:t>5 segmenata - tematska organizacija, ne po projektima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1444752"/>
            <a:ext cx="109728" cy="857707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640080" cy="85770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1B365D"/>
                </a:solidFill>
                <a:latin typeface="Calibri"/>
              </a:rPr>
              <a:t>00.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490472"/>
            <a:ext cx="835121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Uvod i motivacija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901952"/>
            <a:ext cx="8351215" cy="4005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Sta i zasto - od ishoda ucenja do ITS-a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1444752"/>
            <a:ext cx="1737360" cy="85770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700" b="1" i="0">
                <a:solidFill>
                  <a:srgbClr val="C25700"/>
                </a:solidFill>
                <a:latin typeface="Calibri"/>
              </a:rPr>
              <a:t>10 min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412187"/>
            <a:ext cx="109728" cy="857707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2412187"/>
            <a:ext cx="640080" cy="85770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1B365D"/>
                </a:solidFill>
                <a:latin typeface="Calibri"/>
              </a:rPr>
              <a:t>01.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457907"/>
            <a:ext cx="835121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LLM prompting i taksonomije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869387"/>
            <a:ext cx="8351215" cy="4005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Bloom, SOLO, PS4 prompting, hijerarhija zadataka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05695" y="2412187"/>
            <a:ext cx="1737360" cy="85770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700" b="1" i="0">
                <a:solidFill>
                  <a:srgbClr val="C25700"/>
                </a:solidFill>
                <a:latin typeface="Calibri"/>
              </a:rPr>
              <a:t>25 min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379622"/>
            <a:ext cx="109728" cy="857707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3379622"/>
            <a:ext cx="640080" cy="85770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1B365D"/>
                </a:solidFill>
                <a:latin typeface="Calibri"/>
              </a:rPr>
              <a:t>02.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425342"/>
            <a:ext cx="835121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Ontologije i formalni grounding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3836822"/>
            <a:ext cx="8351215" cy="4005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OWL, RDF, SPARQL i anti-halucinacioni mehanizmi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05695" y="3379622"/>
            <a:ext cx="1737360" cy="85770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700" b="1" i="0">
                <a:solidFill>
                  <a:srgbClr val="C25700"/>
                </a:solidFill>
                <a:latin typeface="Calibri"/>
              </a:rPr>
              <a:t>25 min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347057"/>
            <a:ext cx="109728" cy="857707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7240" y="4347057"/>
            <a:ext cx="640080" cy="85770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1B365D"/>
                </a:solidFill>
                <a:latin typeface="Calibri"/>
              </a:rPr>
              <a:t>03.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392777"/>
            <a:ext cx="835121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Evaluacija i ogranicenja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4804257"/>
            <a:ext cx="8351215" cy="4005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Kvalitet po nivoima, robustnost, human-in-the-loop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05695" y="4347057"/>
            <a:ext cx="1737360" cy="85770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700" b="1" i="0">
                <a:solidFill>
                  <a:srgbClr val="C25700"/>
                </a:solidFill>
                <a:latin typeface="Calibri"/>
              </a:rPr>
              <a:t>25 min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314492"/>
            <a:ext cx="109728" cy="857707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77240" y="5314492"/>
            <a:ext cx="640080" cy="85770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1B365D"/>
                </a:solidFill>
                <a:latin typeface="Calibri"/>
              </a:rPr>
              <a:t>04.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08760" y="5360212"/>
            <a:ext cx="835121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Sinteza, buduci rad, zakljucak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5771692"/>
            <a:ext cx="8351215" cy="4005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Integrisana arhitektura i naredni koraci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05695" y="5314492"/>
            <a:ext cx="1737360" cy="85770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700" b="1" i="0">
                <a:solidFill>
                  <a:srgbClr val="C25700"/>
                </a:solidFill>
                <a:latin typeface="Calibri"/>
              </a:rPr>
              <a:t>10-15 min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6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2194560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5C060"/>
                </a:solidFill>
                <a:latin typeface="Calibri"/>
              </a:rPr>
              <a:t>SEGMENT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606040"/>
            <a:ext cx="10637215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Uvod i motivacija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160520"/>
            <a:ext cx="1371600" cy="40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4343400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D1D5DB"/>
                </a:solidFill>
                <a:latin typeface="Calibri"/>
              </a:rPr>
              <a:t>Polazimo od trenutnog stanja - sta nastavnik radi i zasto je to skupo.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943600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C4C9D4"/>
                </a:solidFill>
                <a:latin typeface="Calibri"/>
              </a:rPr>
              <a:t>10 min  /  4 slajda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0 - UVOD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Problem - sta nastavnik radi rucno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Calibri"/>
              </a:rPr>
              <a:t>Vreme i kognitivni napor su jaka skala bola.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444752"/>
            <a:ext cx="3515258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73152" cy="192024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1627632"/>
            <a:ext cx="305805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>
                <a:solidFill>
                  <a:srgbClr val="C25700"/>
                </a:solidFill>
                <a:latin typeface="Calibri"/>
              </a:rPr>
              <a:t>&gt; 40%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04872"/>
            <a:ext cx="305805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radnog vremena nastavnika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724912"/>
            <a:ext cx="305805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trosi se na pripremu materijala (planiranje, primeri, video)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38218" y="1444752"/>
            <a:ext cx="3515258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38218" y="1444752"/>
            <a:ext cx="73152" cy="192024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12538" y="1627632"/>
            <a:ext cx="305805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>
                <a:solidFill>
                  <a:srgbClr val="C25700"/>
                </a:solidFill>
                <a:latin typeface="Calibri"/>
              </a:rPr>
              <a:t>4 nivoa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2538" y="2404872"/>
            <a:ext cx="305805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kognitivne slozenosti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2538" y="2724912"/>
            <a:ext cx="305805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moraju biti pokriveni pitanjima (SOLO taksonomija)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27796" y="1444752"/>
            <a:ext cx="3515258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27796" y="1444752"/>
            <a:ext cx="73152" cy="192024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02116" y="1627632"/>
            <a:ext cx="305805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>
                <a:solidFill>
                  <a:srgbClr val="C25700"/>
                </a:solidFill>
                <a:latin typeface="Calibri"/>
              </a:rPr>
              <a:t>3 izvora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02116" y="2404872"/>
            <a:ext cx="305805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ulaza za sistem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02116" y="2724912"/>
            <a:ext cx="305805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ishodi ucenja, PDF materijali, prirodno-jezicke instrukcije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730752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Sta nastavnik radi rucno?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142232"/>
            <a:ext cx="11094415" cy="2029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•  Planira strukturu kursa - module, koncepte, ishode ucenja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•  Pise objasnjenja, primere, definicije - usaglasava ih sa nivoom studenata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•  Priprema praktiche demonstracije, cesto u formi video tutorijala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•  Sastavlja pitanja na razlicitim kognitivnim nivoima - i tu nastaje uska grla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0 - UVOD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LLM otvara vrata, ali ne sam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Calibri"/>
              </a:rPr>
              <a:t>Sta dobijemo - i sta sve uneso skripa.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LLM je otvorio vrata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56232"/>
            <a:ext cx="5364327" cy="4270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•  Generisanje sadrzaja iz prirodno-jezickog uputstva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•  Razlaganje kompleksnih zadataka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•  Brza iteracija i prilagodjavanje materijala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•  Multimodalnost: tekst, kod, vizija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8727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C25700"/>
                </a:solidFill>
                <a:latin typeface="Calibri"/>
              </a:rPr>
              <a:t>...ali otvorio i nove probleme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1856232"/>
            <a:ext cx="5364327" cy="4270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•  Halucinacije - izmisljene cinjenice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•  Genericnost izlaza, malo veze sa konkretnim materijalom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•  Pitanja na pogresnom kognitivnom nivou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•  Nedostatak formalne strukture i ponovljivosti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•  Tesko proveriti gde se sta oslonilo na izvor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0 - VIZIJA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Vizija - ITS pipeline od ishoda do video tutorijala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Calibri"/>
              </a:rPr>
              <a:t>5 koraka, end-to-end, bez rucne intervencije izmedju.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627632"/>
            <a:ext cx="2087209" cy="219456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627632"/>
            <a:ext cx="2087209" cy="9144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810512"/>
            <a:ext cx="208720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1" i="0">
                <a:solidFill>
                  <a:srgbClr val="C25700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67712"/>
            <a:ext cx="208720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1B365D"/>
                </a:solidFill>
                <a:latin typeface="Calibri"/>
              </a:rPr>
              <a:t>Ulaz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724912"/>
            <a:ext cx="190432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Ishodi ucenja
PDF materijal
NL instrukcije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654137" y="2633472"/>
            <a:ext cx="128016" cy="182880"/>
          </a:xfrm>
          <a:prstGeom prst="rightArrow">
            <a:avLst/>
          </a:prstGeom>
          <a:solidFill>
            <a:srgbClr val="C25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800441" y="1627632"/>
            <a:ext cx="2087209" cy="219456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800441" y="1627632"/>
            <a:ext cx="2087209" cy="9144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800441" y="1810512"/>
            <a:ext cx="208720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1" i="0">
                <a:solidFill>
                  <a:srgbClr val="C25700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00441" y="2267712"/>
            <a:ext cx="208720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1B365D"/>
                </a:solidFill>
                <a:latin typeface="Calibri"/>
              </a:rPr>
              <a:t>Struktura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91881" y="2724912"/>
            <a:ext cx="190432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Bloom-driven
moduli i ishodi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905938" y="2633472"/>
            <a:ext cx="128016" cy="182880"/>
          </a:xfrm>
          <a:prstGeom prst="rightArrow">
            <a:avLst/>
          </a:prstGeom>
          <a:solidFill>
            <a:srgbClr val="C25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052242" y="1627632"/>
            <a:ext cx="2087209" cy="219456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052242" y="1627632"/>
            <a:ext cx="2087209" cy="9144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052242" y="1810512"/>
            <a:ext cx="208720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1" i="0">
                <a:solidFill>
                  <a:srgbClr val="C25700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52242" y="2267712"/>
            <a:ext cx="208720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1B365D"/>
                </a:solidFill>
                <a:latin typeface="Calibri"/>
              </a:rPr>
              <a:t>Ontologija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3682" y="2724912"/>
            <a:ext cx="190432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OWL/RDF
konceptualne relacije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157740" y="2633472"/>
            <a:ext cx="128016" cy="182880"/>
          </a:xfrm>
          <a:prstGeom prst="rightArrow">
            <a:avLst/>
          </a:prstGeom>
          <a:solidFill>
            <a:srgbClr val="C25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304044" y="1627632"/>
            <a:ext cx="2087209" cy="219456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304044" y="1627632"/>
            <a:ext cx="2087209" cy="9144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304044" y="1810512"/>
            <a:ext cx="208720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1" i="0">
                <a:solidFill>
                  <a:srgbClr val="C25700"/>
                </a:solidFill>
                <a:latin typeface="Calibr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04044" y="2267712"/>
            <a:ext cx="208720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1B365D"/>
                </a:solidFill>
                <a:latin typeface="Calibri"/>
              </a:rPr>
              <a:t>Generisanje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95484" y="2724912"/>
            <a:ext cx="190432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SOLO pitanja
video demoi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409541" y="2633472"/>
            <a:ext cx="128016" cy="182880"/>
          </a:xfrm>
          <a:prstGeom prst="rightArrow">
            <a:avLst/>
          </a:prstGeom>
          <a:solidFill>
            <a:srgbClr val="C25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9555845" y="1627632"/>
            <a:ext cx="2087209" cy="219456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9555845" y="1627632"/>
            <a:ext cx="2087209" cy="9144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555845" y="1810512"/>
            <a:ext cx="208720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1" i="0">
                <a:solidFill>
                  <a:srgbClr val="C25700"/>
                </a:solidFill>
                <a:latin typeface="Calibri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55845" y="2267712"/>
            <a:ext cx="208720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1B365D"/>
                </a:solidFill>
                <a:latin typeface="Calibri"/>
              </a:rPr>
              <a:t>Izlaz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47285" y="2724912"/>
            <a:ext cx="190432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Strukturisan
ITS pipeline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096512"/>
            <a:ext cx="11094415" cy="198424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548640" y="4096512"/>
            <a:ext cx="73152" cy="1984248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22960" y="4233672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C25700"/>
                </a:solidFill>
                <a:latin typeface="Calibri"/>
              </a:rPr>
              <a:t>Vizija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4553712"/>
            <a:ext cx="1063721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rgbClr val="1F2937"/>
                </a:solidFill>
                <a:latin typeface="Calibri"/>
              </a:rPr>
              <a:t>Od ishoda ucenja, automatski, do snimljene video demonstracije i SOLO kviza - bez rucne intervencije.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0 - KOMPONENTE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Tri komponente jednog pipeline-a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Calibri"/>
              </a:rPr>
              <a:t>Svaki clan tima radi jedan deo - zajedno cine celinu.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444752"/>
            <a:ext cx="3545738" cy="463600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3545738" cy="7315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73352"/>
            <a:ext cx="317997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LUKA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317997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B365D"/>
                </a:solidFill>
                <a:latin typeface="Calibri"/>
              </a:rPr>
              <a:t>Struktura kursa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23160"/>
            <a:ext cx="317997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Bloomova taksonomija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788920"/>
            <a:ext cx="457200" cy="15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2953512"/>
            <a:ext cx="3179978" cy="2944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Hijerarhija: kurs -&gt; modul -&gt; koncept -&gt; ishod -&gt; aktivnost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JSON serijalizacija sa rekurzivnom strukturom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Bloomovi nivoi mapirani na tipove aktivnosti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State-of-generation kontekst za koherentnost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2978" y="1444752"/>
            <a:ext cx="3545738" cy="463600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22978" y="1444752"/>
            <a:ext cx="3545738" cy="7315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05858" y="1673352"/>
            <a:ext cx="317997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STEFAN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5858" y="1965960"/>
            <a:ext cx="317997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B365D"/>
                </a:solidFill>
                <a:latin typeface="Calibri"/>
              </a:rPr>
              <a:t>Video demonstracije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5858" y="2423160"/>
            <a:ext cx="317997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OWL ontologija + Computer Use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05858" y="2788920"/>
            <a:ext cx="457200" cy="15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05858" y="2953512"/>
            <a:ext cx="3179978" cy="2944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NL instrukcija -&gt; Task / Step / Action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OWL validacija plana pre izvrsenja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SPARQL upiti vode izvrsavanje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Vision (Qwen 2.5 VL) za UI detekciju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FFmpeg snima MP4 tutorijal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1444752"/>
            <a:ext cx="3545738" cy="463600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097316" y="1444752"/>
            <a:ext cx="3545738" cy="7315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80196" y="1673352"/>
            <a:ext cx="317997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UROS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0196" y="1965960"/>
            <a:ext cx="317997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B365D"/>
                </a:solidFill>
                <a:latin typeface="Calibri"/>
              </a:rPr>
              <a:t>SOLO pitanja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0196" y="2423160"/>
            <a:ext cx="317997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Ontology-grounded MCQ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80196" y="2788920"/>
            <a:ext cx="457200" cy="15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80196" y="2953512"/>
            <a:ext cx="3179978" cy="2944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4 SOLO nivoa: U / M / R / EA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PS4 prompt template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source_line citat iz PDF-a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Ontology anchor iz ConceptRelationship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Two-pass generisanje za EA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0 - KLJUCNA PORUKA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Kljucna poruka prezentacije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901952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C25700"/>
                </a:solidFill>
                <a:latin typeface="Calibri"/>
              </a:rPr>
              <a:t>Kljucna poruka prezentacije</a:t>
            </a:r>
          </a:p>
        </p:txBody>
      </p:sp>
      <p:sp>
        <p:nvSpPr>
          <p:cNvPr id="6" name="Rectangle 5"/>
          <p:cNvSpPr/>
          <p:nvPr/>
        </p:nvSpPr>
        <p:spPr>
          <a:xfrm>
            <a:off x="1380721" y="2542032"/>
            <a:ext cx="9430252" cy="201168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380721" y="2542032"/>
            <a:ext cx="9430252" cy="3000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80721" y="2907792"/>
            <a:ext cx="943025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200" b="1" i="0">
                <a:solidFill>
                  <a:srgbClr val="1B365D"/>
                </a:solidFill>
                <a:latin typeface="Calibri"/>
              </a:rPr>
              <a:t>LLM  +  ontologija  +  pedagoska taksonomija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0721" y="3547872"/>
            <a:ext cx="943025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C25700"/>
                </a:solidFill>
                <a:latin typeface="Calibri"/>
              </a:rPr>
              <a:t>=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0721" y="3959352"/>
            <a:ext cx="943025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0" i="1">
                <a:solidFill>
                  <a:srgbClr val="1F2937"/>
                </a:solidFill>
                <a:latin typeface="Calibri"/>
              </a:rPr>
              <a:t>pouzdano, pedagoski kalibrisano ITS okruzenje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782312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1">
                <a:solidFill>
                  <a:srgbClr val="6B7280"/>
                </a:solidFill>
                <a:latin typeface="Calibri"/>
              </a:rPr>
              <a:t>vise od zbira svojih delova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6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2194560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5C060"/>
                </a:solidFill>
                <a:latin typeface="Calibri"/>
              </a:rPr>
              <a:t>SEGMENT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606040"/>
            <a:ext cx="10637215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LLM prompting i pedagoske taksonomije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160520"/>
            <a:ext cx="1371600" cy="40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4343400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D1D5DB"/>
                </a:solidFill>
                <a:latin typeface="Calibri"/>
              </a:rPr>
              <a:t>Hijerarhijska dekompozicija + formalna taksonomija u promptu = pedagoski kalibrisan LLM.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943600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C4C9D4"/>
                </a:solidFill>
                <a:latin typeface="Calibri"/>
              </a:rPr>
              <a:t>25 min  /  11 slajdova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A - BLOOM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Bloomova taksonomija - 6 nivoa misaonih operacija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Calibri"/>
              </a:rPr>
              <a:t>Glagol akcije: pamtiti, razumeti, primeniti, analizirati, evaluirati, kreirati.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444752"/>
            <a:ext cx="6101928" cy="72694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502920" cy="726948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444752"/>
            <a:ext cx="502920" cy="7269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L1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444752"/>
            <a:ext cx="5370408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Pamtiti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719072"/>
            <a:ext cx="5370408" cy="4526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Cinjenice, definicije, terminologija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244852"/>
            <a:ext cx="6101928" cy="72694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2244852"/>
            <a:ext cx="502920" cy="726948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2244852"/>
            <a:ext cx="502920" cy="7269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L2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244852"/>
            <a:ext cx="5370408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Razumeti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2519172"/>
            <a:ext cx="5370408" cy="4526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Objasnjenje, parafraziranje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044952"/>
            <a:ext cx="6101928" cy="72694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3044952"/>
            <a:ext cx="502920" cy="726948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3044952"/>
            <a:ext cx="502920" cy="7269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L3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044952"/>
            <a:ext cx="5370408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Primeniti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319272"/>
            <a:ext cx="5370408" cy="4526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Resavanje analognih problema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845052"/>
            <a:ext cx="6101928" cy="72694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48640" y="3845052"/>
            <a:ext cx="502920" cy="726948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8640" y="3845052"/>
            <a:ext cx="502920" cy="7269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L4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3845052"/>
            <a:ext cx="5370408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Analizirati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4119372"/>
            <a:ext cx="5370408" cy="4526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Razlaganje, poredjenje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645152"/>
            <a:ext cx="6101928" cy="72694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48640" y="4645152"/>
            <a:ext cx="502920" cy="726948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48640" y="4645152"/>
            <a:ext cx="502920" cy="7269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L5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4645152"/>
            <a:ext cx="5370408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Evaluirati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4919472"/>
            <a:ext cx="5370408" cy="4526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Procena, kriticko misljenje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5445252"/>
            <a:ext cx="6101928" cy="72694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48640" y="5445252"/>
            <a:ext cx="502920" cy="726948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48640" y="5445252"/>
            <a:ext cx="502920" cy="7269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L6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88720" y="5445252"/>
            <a:ext cx="5370408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Kreirati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720" y="5719572"/>
            <a:ext cx="5370408" cy="4526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Sinteza, novi rad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924888" y="1444752"/>
            <a:ext cx="4718166" cy="4727448"/>
          </a:xfrm>
          <a:prstGeom prst="rect">
            <a:avLst/>
          </a:prstGeom>
          <a:solidFill>
            <a:srgbClr val="EEEF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924888" y="3442716"/>
            <a:ext cx="4718166" cy="36576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2000" b="1" i="0">
                <a:solidFill>
                  <a:srgbClr val="6B7280"/>
                </a:solidFill>
                <a:latin typeface="Calibri"/>
              </a:rPr>
              <a:t>[ Slika ]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24888" y="3854196"/>
            <a:ext cx="471816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Bloomova piramida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A - SOLO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SOLO taksonomija - strukturalna slozenost odgovora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Calibri"/>
              </a:rPr>
              <a:t>Od jedne cinjenice do generalizacije i transfera znanja.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444752"/>
            <a:ext cx="6101928" cy="1099566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91440" cy="1099566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536192"/>
            <a:ext cx="57361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Unistructural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828800"/>
            <a:ext cx="5736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C25700"/>
                </a:solidFill>
                <a:latin typeface="Calibri"/>
              </a:rPr>
              <a:t>Jedna izolovana cinjenica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103120"/>
            <a:ext cx="5736168" cy="4137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Setiti se jednog elementa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654046"/>
            <a:ext cx="6101928" cy="1099566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2654046"/>
            <a:ext cx="91440" cy="1099566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2745486"/>
            <a:ext cx="57361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Multistructural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038094"/>
            <a:ext cx="5736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C25700"/>
                </a:solidFill>
                <a:latin typeface="Calibri"/>
              </a:rPr>
              <a:t>Vise nepovezanih cinjenica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312414"/>
            <a:ext cx="5736168" cy="4137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Prepoznati skup elemenata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863340"/>
            <a:ext cx="6101928" cy="1099566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3863340"/>
            <a:ext cx="91440" cy="1099566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3954780"/>
            <a:ext cx="57361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Relational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247388"/>
            <a:ext cx="5736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C25700"/>
                </a:solidFill>
                <a:latin typeface="Calibri"/>
              </a:rPr>
              <a:t>Veza izmedju koncepata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521708"/>
            <a:ext cx="5736168" cy="4137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Razumeti strukturu i odnose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072634"/>
            <a:ext cx="6101928" cy="1099566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48640" y="5072634"/>
            <a:ext cx="91440" cy="1099566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7240" y="5164074"/>
            <a:ext cx="57361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Extended Abstract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456682"/>
            <a:ext cx="5736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C25700"/>
                </a:solidFill>
                <a:latin typeface="Calibri"/>
              </a:rPr>
              <a:t>Generalizacija i transfer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731002"/>
            <a:ext cx="5736168" cy="4137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Primeniti na novi kontekst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24888" y="1444752"/>
            <a:ext cx="4718166" cy="4727448"/>
          </a:xfrm>
          <a:prstGeom prst="rect">
            <a:avLst/>
          </a:prstGeom>
          <a:solidFill>
            <a:srgbClr val="EEEF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924888" y="3442716"/>
            <a:ext cx="4718166" cy="36576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2000" b="1" i="0">
                <a:solidFill>
                  <a:srgbClr val="6B7280"/>
                </a:solidFill>
                <a:latin typeface="Calibri"/>
              </a:rPr>
              <a:t>[ Slika 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24888" y="3854196"/>
            <a:ext cx="471816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SOLO taksonomija - vizuelni prikaz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A - POREDJENJE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Bloom vs SOLO - razliciti pogledi, komplementarni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44752"/>
          <a:ext cx="11094415" cy="3447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88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377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377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2469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Aspekt</a:t>
                      </a:r>
                    </a:p>
                  </a:txBody>
                  <a:tcPr marT="54864" marB="54864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Bloom (revidirana)</a:t>
                      </a:r>
                    </a:p>
                  </a:txBody>
                  <a:tcPr marT="54864" marB="54864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SOLO</a:t>
                      </a:r>
                    </a:p>
                  </a:txBody>
                  <a:tcPr marT="54864" marB="54864">
                    <a:solidFill>
                      <a:srgbClr val="1B36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2469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Tip hijerarhije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Tipovi misaonih operacija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Strukturalna slozenost odgovora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469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Broj nivoa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6 nivoa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5 nivoa (ukljucujuci prestructural)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469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Osnovna jedinica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Glagol akcije (znati, primeniti, ...)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Broj i organizacija elemenata u odgovoru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469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Tipicna upotreba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Planiranje aktivnosti i ishoda ucenja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Evaluacija dubine ucenja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469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Mi koristimo za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Strukturu kursa (Luka)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Generisanje pitanja (Uros)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2474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Glavna prednost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Direktna veza sa nastavnim aktivnostima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Direktna veza sa kognitivnom dubinom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48640" y="5074920"/>
            <a:ext cx="11094415" cy="9144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5074920"/>
            <a:ext cx="73152" cy="9144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5166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Zasto obe?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4864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Bloom upravlja STA generisemo (tipovi aktivnosti), SOLO upravlja KOLIKO DUBOKO se proverava (kognitivni nivoi pitanja).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A - LUKA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Luka - hijerarhijska struktura kursa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Calibri"/>
              </a:rPr>
              <a:t>LLM razlaze kurs u stablo modula, koncepata, ishoda i aktivnosti.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Hijerarhijska dekompozicija kursa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01952"/>
            <a:ext cx="5364327" cy="4178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ULAZ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Tema kursa i opsti opis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Lista ciljeva (ishoda ucenja)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LLM PROLAZ PO NIVOU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Generise module iz teme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Generise koncepte iz modula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Generise ishode iz koncepata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Generise aktivnosti iz ishoda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BLOOMOVO MAPIRANJE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Svaka aktivnost dobija Bloomov nivo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Aktivnosti se biraju kako bi pokrile sve nivoe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8727" y="1719072"/>
            <a:ext cx="4998567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78727" y="1719072"/>
            <a:ext cx="91440" cy="45720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61607" y="1719072"/>
            <a:ext cx="4724247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Kurs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44487" y="2286000"/>
            <a:ext cx="4632807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644487" y="2286000"/>
            <a:ext cx="91440" cy="45720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27367" y="2286000"/>
            <a:ext cx="4358487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Modul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10247" y="2852928"/>
            <a:ext cx="4267047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010247" y="2852928"/>
            <a:ext cx="91440" cy="4572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193127" y="2852928"/>
            <a:ext cx="3992727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C25700"/>
                </a:solidFill>
                <a:latin typeface="Calibri"/>
              </a:rPr>
              <a:t>Koncept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76007" y="3419856"/>
            <a:ext cx="3901287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376007" y="3419856"/>
            <a:ext cx="91440" cy="4572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558887" y="3419856"/>
            <a:ext cx="3626967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C25700"/>
                </a:solidFill>
                <a:latin typeface="Calibri"/>
              </a:rPr>
              <a:t>Ishod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41767" y="3986784"/>
            <a:ext cx="3535527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741767" y="3986784"/>
            <a:ext cx="91440" cy="45720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924647" y="3986784"/>
            <a:ext cx="3261207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6B7280"/>
                </a:solidFill>
                <a:latin typeface="Calibri"/>
              </a:rPr>
              <a:t>Aktivnost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78727" y="4645152"/>
            <a:ext cx="499856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libri"/>
              </a:rPr>
              <a:t>Rekurzivna struktura, JSON serijalizacija.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A - LUKA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Luka - prompt template + state-of-generation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Prompt template za strukturu kursa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01952"/>
            <a:ext cx="5364327" cy="4178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STA ULAZI U PROMPT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Tema i kontekst kursa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Lista ciljeva ucenja (ishoda)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Bloomov nivo koji se traci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Stanje vec generisanog sadrzaja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ANTI-REDUNDANCIJA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Prethodno generisane aktivnosti se ubacuju u prompt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LLM se eksplicitno trazi da izbegne ponavljanje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Daje koherentnost preko celog kursa</a:t>
            </a:r>
          </a:p>
        </p:txBody>
      </p:sp>
      <p:sp>
        <p:nvSpPr>
          <p:cNvPr id="7" name="Rectangle 6"/>
          <p:cNvSpPr/>
          <p:nvPr/>
        </p:nvSpPr>
        <p:spPr>
          <a:xfrm>
            <a:off x="6278727" y="1444752"/>
            <a:ext cx="5364327" cy="427024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43319" y="1609344"/>
            <a:ext cx="5035143" cy="39410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Role: ti si iskusan instructional designer.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Tema kursa: {tema}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Ciljevi ucenja: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- {cilj_1}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- {cilj_2}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Generisi N aktivnosti za nivo: {bloom_level}.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Vec generisane aktivnosti (ne ponavljaj):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- {prev_activity_1}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- {prev_activity_2}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Format izlaza: JSON sa poljima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title, description, bloom_level, estimated_time.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5760720"/>
            <a:ext cx="5364327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libri"/>
              </a:rPr>
              <a:t>Skica prompta - parametri u {}.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A - UROS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Uros - SOLO Quiz Generator i PS4 prompt template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SOLO Quiz Generator (Uros)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01952"/>
            <a:ext cx="5364327" cy="4178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ULAZ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PDF lekcija (Srpski / Engleski, auto-detekcija)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Parsirane sekcije i learning objekti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Generisana ontologija pojmova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IZLAZ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MCQ pitanja na 4 SOLO nivoa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Svako pitanje: source_line citat iz PDF-a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Relaciona i EA: ontology anchor u tags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TECH STACK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Ollama qwen2.5:14b-instruct-q4 lokalno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RDFLib + SPARQL, SQLite + Flask + React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78727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PS4 prompt template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8727" y="1901952"/>
            <a:ext cx="5364327" cy="985266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78727" y="1901952"/>
            <a:ext cx="91440" cy="985266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07327" y="1947672"/>
            <a:ext cx="50900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Persona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7327" y="2267712"/>
            <a:ext cx="5090007" cy="6195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Role priming - LLM kao iskusan pedagog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78727" y="2996946"/>
            <a:ext cx="5364327" cy="985266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78727" y="2996946"/>
            <a:ext cx="91440" cy="985266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07327" y="3042666"/>
            <a:ext cx="50900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Pravila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7327" y="3362706"/>
            <a:ext cx="5090007" cy="6195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SOLO definicija + worked example za nivo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8727" y="4091940"/>
            <a:ext cx="5364327" cy="985266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78727" y="4091940"/>
            <a:ext cx="91440" cy="985266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07327" y="4137660"/>
            <a:ext cx="50900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Putanja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7327" y="4457700"/>
            <a:ext cx="5090007" cy="6195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Chain-of-thought scaffold pre odgovora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8727" y="5186934"/>
            <a:ext cx="5364327" cy="985266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278727" y="5186934"/>
            <a:ext cx="91440" cy="985266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07327" y="5232654"/>
            <a:ext cx="50900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Pitanja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07327" y="5552694"/>
            <a:ext cx="5090007" cy="6195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Output schema + typed distractor strategies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A - UROS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Two-pass generisanje za Extended Abstract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Calibri"/>
              </a:rPr>
              <a:t>Razdvajamo 'sta pitati' od 'kako napraviti dobre distraktore'.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53186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Pass 1: pitanje + odgovor + 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01952"/>
            <a:ext cx="5318607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LLM generise pitanje za EA nivo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Vraca tacan odgovor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Vraca source_line - doslovni navod iz PDF-a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Veza pitanje &lt;-&gt; izvor je eksplicitna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370832"/>
            <a:ext cx="53186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Pass 2: typed distractors (predictive prompting)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828032"/>
            <a:ext cx="5318607" cy="12527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Echo: ponovi pitanje i tacan odgovor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Generisi 3 tipizirana distraktora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Svaki ima zadati 'tip greske' (overgeneralizacija, povrsno citanje, ...)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Strategije se biraju iz tabele po SOLO nivou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24447" y="1444752"/>
            <a:ext cx="5318607" cy="219456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324447" y="1444752"/>
            <a:ext cx="109728" cy="219456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53047" y="1581912"/>
            <a:ext cx="504428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PASS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1901952"/>
            <a:ext cx="504428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LLM -&gt; { pitanje, tacan_odgovor, source_line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2404872"/>
            <a:ext cx="5044287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Fokus: pedagoska valjanost pitanja i grounding u izvoru. Distraktori se NE traze u ovom prolazu.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8846591" y="3685032"/>
            <a:ext cx="274320" cy="365760"/>
          </a:xfrm>
          <a:prstGeom prst="downArrow">
            <a:avLst/>
          </a:prstGeom>
          <a:solidFill>
            <a:srgbClr val="C25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324447" y="4142232"/>
            <a:ext cx="5318607" cy="184708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24447" y="4142232"/>
            <a:ext cx="109728" cy="1847088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53047" y="4279392"/>
            <a:ext cx="504428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PASS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9432"/>
            <a:ext cx="504428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LLM -&gt; { 3 typed distractor-a 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102352"/>
            <a:ext cx="5044287" cy="841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Echo prompt: LLM ponovi pitanje, pa generise distraktore po tipiziranim strategijama greske. Smanjuje 'lazne' distraktore.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A - UROS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Source-line citation - anti-halucinacija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Source-line citation kao anti-halucinacija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01952"/>
            <a:ext cx="5364327" cy="4178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STA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Uz svako pitanje, LLM mora vratiti doslovni navod iz PDF-a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Navod opravdava tacan odgovor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ZASTO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Ako navod ne postoji u izvoru = signal halucinacije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Lako pregledati u UI: pitanje + citirani odlomak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Recenzent (ili nastavnik) vidi gde je 'istina'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KAKO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JSON polje source_line u prompt schemi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Cuva se u tabeli questions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QuestionBank UI prikazuje source_line uz svako pitanje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78727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Primer JSON izlaza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8727" y="1901952"/>
            <a:ext cx="5364327" cy="417880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43319" y="2066544"/>
            <a:ext cx="5035143" cy="3849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"level": "relational",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"question": "Kako se memorijska\n   hijerarhija odnosi prema brzini\n   pristupa i kapacitetu?",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"correct": "Brzina opada, a\n   kapacitet raste niz hijerarhiju.",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"distractors": [...],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"source_line": "Memorijska\n   hijerarhija je organizovana tako\n   da brze memorije imaju manji\n   kapacitet.",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"tags": { "ontology_anchor": {\n     "source": "RAM",\n     "target": "Cache",\n     "type": "is_faster_than"\n  } }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6126480"/>
            <a:ext cx="5364327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libri"/>
              </a:rPr>
              <a:t>Pojednostavljeni primer odgovora LLM-a.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A - STEFAN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Stefan - hijerarhijska dekompozicija zadataka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Calibri"/>
              </a:rPr>
              <a:t>Task -&gt; Step -&gt; Action: tri nivoa razgradnje prirodno-jezicke instrukcije.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Computer Use Video Instructions (Stefan)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01952"/>
            <a:ext cx="5364327" cy="4178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ULAZ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Prirodno-jezicka instrukcija praktickog zadatka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Npr. "Kreiraj C# konzolni projekat u Visual Studio-u"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IZLAZ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Snimljeni MP4 video tutorijal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OWL fajl izvrsnog plana (auditable)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HIJERARHIJA RAZGRADNJE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Task: kompletan zadatak (zatvorena celina)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Step: atomicna akcija (otvori, klikni, otkucaj)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Action: tip akcije iz fiksne ontologije akcija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8727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Task / Step / Action hijerarhija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8727" y="1901952"/>
            <a:ext cx="5364327" cy="1331976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78727" y="1901952"/>
            <a:ext cx="91440" cy="1331976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07327" y="1993392"/>
            <a:ext cx="5090007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Task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7327" y="2313432"/>
            <a:ext cx="5090007" cy="9204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Open VS, create C# Console app, write Hello World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78727" y="3371088"/>
            <a:ext cx="5364327" cy="1331976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78727" y="3371088"/>
            <a:ext cx="91440" cy="1331976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07327" y="3462528"/>
            <a:ext cx="5090007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Step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7327" y="3782568"/>
            <a:ext cx="5090007" cy="9204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1. open_application Visual Studio   -&gt;   2. wait   -&gt;   3. click Create new project   -&gt;   ...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78727" y="4840224"/>
            <a:ext cx="5364327" cy="1331976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78727" y="4840224"/>
            <a:ext cx="91440" cy="1331976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07327" y="4931664"/>
            <a:ext cx="5090007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Action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7327" y="5251704"/>
            <a:ext cx="5090007" cy="9204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open_application | click | type_text | key_press | wait | capture_screen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A - TRADEOFF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Prompt engineering vs Fine-tuning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44752"/>
          <a:ext cx="11094413" cy="3447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941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001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001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2469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T="54864" marB="54864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Prompt engineering</a:t>
                      </a:r>
                    </a:p>
                  </a:txBody>
                  <a:tcPr marT="54864" marB="54864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Fine-tuning</a:t>
                      </a:r>
                    </a:p>
                  </a:txBody>
                  <a:tcPr marT="54864" marB="54864">
                    <a:solidFill>
                      <a:srgbClr val="1B36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2469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Trosak razvoja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Nizak - samo prompt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Visok - dataset + trening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469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Trosak izvrsenja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Veci prompt = veci token cost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Manji prompt, ali specijalizovan model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469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Brzina iteracije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Sekunde - promenis prompt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Sati / dani - rerun trening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469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Domen-specificnost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Ogranicena, oslanja se na bazni model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Visoka, prilagodjen domenu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469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Kontrola halucinacija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Posredna (CoT, schema, grounding)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Direktna (kvalitet treninga)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2474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Nas izbor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Da - PS4 + ontology grounding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Ne, za sada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48640" y="5074920"/>
            <a:ext cx="11094415" cy="9144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5074920"/>
            <a:ext cx="73152" cy="9144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5166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Zasto prompt engineering, ne fine-tune?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4864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Bez stabilnog domenskog dataset-a za SOLO/Bloom u programiranju, prompt + ontology grounding daje brzu, transparentnu i jeftiniju iteraciju.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A - TRADEOFF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Lokalni vs cloud LLM-ovi - mi koristimo oba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44752"/>
          <a:ext cx="11094414" cy="4361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28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60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60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60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23098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T="54864" marB="54864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Lokalni: Ollama Qwen 2.5 14B</a:t>
                      </a:r>
                    </a:p>
                  </a:txBody>
                  <a:tcPr marT="54864" marB="54864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Cloud: Groq Llama 3.3 70B</a:t>
                      </a:r>
                    </a:p>
                  </a:txBody>
                  <a:tcPr marT="54864" marB="54864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Cloud Vision: Qwen 2.5 VL 72B</a:t>
                      </a:r>
                    </a:p>
                  </a:txBody>
                  <a:tcPr marT="54864" marB="54864">
                    <a:solidFill>
                      <a:srgbClr val="1B36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3098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Koristi se za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Uros - SOLO pitanja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Stefan - planiranje koraka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Stefan - UI detekcija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3098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Trosak po pozivu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0 (lokalno)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Mali (per token)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Srednji (vision)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3098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Brzina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Sporije, zavisi od GPU-a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Vrlo brzo (Groq accel.)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Brza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3098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Privatnost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Visoka (sve lokalno)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Niska - cloud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Niska - cloud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3098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Kvalitet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Solidan za EA, slabiji za nuansiranja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Veoma dobar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Najbolji za vision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23100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Cache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SHA-256 keys u SQLite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n/a u ovom projektu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A - KLJUCNA PORUKA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Kljucna poruka segmenta 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810512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C25700"/>
                </a:solidFill>
                <a:latin typeface="Calibri"/>
              </a:rPr>
              <a:t>Kljucna poruka segmenta A</a:t>
            </a:r>
          </a:p>
        </p:txBody>
      </p:sp>
      <p:sp>
        <p:nvSpPr>
          <p:cNvPr id="6" name="Rectangle 5"/>
          <p:cNvSpPr/>
          <p:nvPr/>
        </p:nvSpPr>
        <p:spPr>
          <a:xfrm>
            <a:off x="1380721" y="2450592"/>
            <a:ext cx="9430252" cy="237744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380721" y="2450592"/>
            <a:ext cx="9430252" cy="3000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746481" y="2907792"/>
            <a:ext cx="8698732" cy="1463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0" i="1">
                <a:solidFill>
                  <a:srgbClr val="1B365D"/>
                </a:solidFill>
                <a:latin typeface="Calibri"/>
              </a:rPr>
              <a:t>Hijerarhijska dekompozicija + formalna pedagoska taksonomija ugradjena u prompt transformisu LLM iz generickog generatora teksta u pedagoski kalibrisan alat.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193792"/>
            <a:ext cx="357621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1" i="0">
                <a:solidFill>
                  <a:srgbClr val="C25700"/>
                </a:solidFill>
                <a:latin typeface="Calibri"/>
              </a:rPr>
              <a:t>Bloom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59552"/>
            <a:ext cx="357621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>
                <a:solidFill>
                  <a:srgbClr val="6B7280"/>
                </a:solidFill>
                <a:latin typeface="Calibri"/>
              </a:rPr>
              <a:t>drives the WHAT - tipovi aktivnosti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07738" y="5193792"/>
            <a:ext cx="357621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1" i="0">
                <a:solidFill>
                  <a:srgbClr val="C25700"/>
                </a:solidFill>
                <a:latin typeface="Calibri"/>
              </a:rPr>
              <a:t>SOLO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07738" y="5559552"/>
            <a:ext cx="357621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>
                <a:solidFill>
                  <a:srgbClr val="6B7280"/>
                </a:solidFill>
                <a:latin typeface="Calibri"/>
              </a:rPr>
              <a:t>drives the HOW DEEP - kognitivne razlike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6836" y="5193792"/>
            <a:ext cx="357621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1" i="0">
                <a:solidFill>
                  <a:srgbClr val="C25700"/>
                </a:solidFill>
                <a:latin typeface="Calibri"/>
              </a:rPr>
              <a:t>PS4 / dekompozicija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6836" y="5559552"/>
            <a:ext cx="357621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>
                <a:solidFill>
                  <a:srgbClr val="6B7280"/>
                </a:solidFill>
                <a:latin typeface="Calibri"/>
              </a:rPr>
              <a:t>drives the HOW - struktura prompta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6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2194560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5C060"/>
                </a:solidFill>
                <a:latin typeface="Calibri"/>
              </a:rPr>
              <a:t>SEGMENT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606040"/>
            <a:ext cx="10637215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Ontologije i formalni grounding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160520"/>
            <a:ext cx="1371600" cy="40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4343400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D1D5DB"/>
                </a:solidFill>
                <a:latin typeface="Calibri"/>
              </a:rPr>
              <a:t>Ontologija je ugovor izmedju LLM-a i sistema - sve sto LLM proizvede mora se mapirati.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943600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C4C9D4"/>
                </a:solidFill>
                <a:latin typeface="Calibri"/>
              </a:rPr>
              <a:t>25 min  /  10 slajdova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B - OSNOVE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OWL - Web Ontology Language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Calibri"/>
              </a:rPr>
              <a:t>Klase, instance, relacije, ogranicenja, mas i mas serijalizacija.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OWL (Web Ontology Language)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01952"/>
            <a:ext cx="5364327" cy="4178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W3C standard za formalne ontologije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Definise klase, instance, relacije, ogranicenja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Citljiv mas i mas (RDF/XML, Turtle, OWL/XML)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Reasoning - moze da izvodi nove cinjenice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MI KORISTIMO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Stefan: OWL u Turtle (computer_use.ttl)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Uros: seed OWL + RDF/XML eksport za Protege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Luka: konceptualni model serijalizovan u JSON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8727" y="1901952"/>
            <a:ext cx="5364327" cy="417880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43319" y="2066544"/>
            <a:ext cx="5035143" cy="3849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@prefix cu: &lt;http://example.org/computer-use#&gt; .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@prefix owl: &lt;.../owl#&gt; .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@prefix rdf: &lt;.../rdf-syntax-ns#&gt; .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cu:Task a owl:Class .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cu:Step a owl:Class .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cu:hasStep a owl:ObjectProperty ;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rdfs:domain cu:Task ;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rdfs:range  cu:Step .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cu:stepOrder a owl:DatatypeProperty ;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rdfs:domain cu:Step ;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rdfs:range  xsd:integer 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6126480"/>
            <a:ext cx="5364327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libri"/>
              </a:rPr>
              <a:t>Mini-isecak iz computer_use.ttl (Stefan).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B - OSNOVE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RDF i SPARQL - tripleti i upiti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Calibri"/>
              </a:rPr>
              <a:t>Sve cinjenice su tripleti; sve upite pisemo nad gradom triplet-a.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RDF - tripleti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01952"/>
            <a:ext cx="5364327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Resource Description Framework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Sve cinjenice = (subject, predicate, object)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Primer: (RAM, is_faster_than, Disk)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OWL je TBox, RDF je ABox - klase vs instance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279392"/>
            <a:ext cx="5364327" cy="118872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2" y="4443984"/>
            <a:ext cx="5035143" cy="8595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:RAM   rdf:type  :MemoryDevice .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:Disk  rdf:type  :MemoryDevice .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:RAM   :isFasterThan  :Disk 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13832"/>
            <a:ext cx="5364327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libri"/>
              </a:rPr>
              <a:t>3 RDF tripleta = mini graf.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8727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SPARQL - upitni jezik nad RDF/OWL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78727" y="1901952"/>
            <a:ext cx="5364327" cy="408736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43319" y="2066544"/>
            <a:ext cx="5035143" cy="3758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PREFIX cu: &lt;http://example.org/computer-use#&gt;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SELECT ?step ?order ?action ?target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WHERE {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?task a cu:Task .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?task cu:hasStep ?step .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?step cu:stepOrder ?order ;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    cu:hasAction ?action ;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    cu:targetName ?target .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}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ORDER BY ?order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8727" y="6035040"/>
            <a:ext cx="5364327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libri"/>
              </a:rPr>
              <a:t>Stefanov upit za citanje koraka iz OWL plana.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B - LUKA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Luka - JSON serijalizacija strukture kursa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Calibri"/>
              </a:rPr>
              <a:t>LLM lakse generise validan JSON nego direktan OWL - JSON -&gt; OWL je determinizam.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JSON serijalizacija strukture kursa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01952"/>
            <a:ext cx="5364327" cy="4178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Hijerarhijska, rekurzivna struktura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Svaki cvor ima id, name, bloom_level, children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Aktivnosti su listovi u stablu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Lako se mapira u Protege / OWL graph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ZASTO JSON, A NE ODMAH OWL?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Lakse za LLM da generise validan JSON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Lakse za UI prikaz i editovanje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Mapiranje JSON -&gt; OWL je determinizam, lako se radi unazad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8727" y="1901952"/>
            <a:ext cx="5364327" cy="417880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43319" y="2066544"/>
            <a:ext cx="5035143" cy="3849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"course": "Operativni sistemi",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"modules": [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{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  "name": "Procesi i niti",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  "concepts": [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    {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      "name": "Proces",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      "outcomes": [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        {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          "name": "Razumeti stanja procesa",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          "bloom": "Razumeti",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          "activities": [...]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        }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      ]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    }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  ]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}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]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6126480"/>
            <a:ext cx="5364327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libri"/>
              </a:rPr>
              <a:t>Primer Lukinog JSON izlaza (pojednostavljeno).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B - UROS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Uros - ConceptRelationship ontologija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Calibri"/>
              </a:rPr>
              <a:t>Relacije izmedju learning objekata - osnova za relacionalna i EA pitanja.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ConceptRelationship ontologija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01952"/>
            <a:ext cx="5364327" cy="4178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MODELUJE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Relacije izmedju learning objekata (LO) jedne lekcije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Edge = (source, target, type, description)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Cuva se u SQL tabeli i eksportuje u Turtle / OWL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MULTI-PASS EKSTRAKCIJA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5 LLM prolaza, jedan po tipu relacije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Smanjuje hallucinated 'prerequisite' lance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Konzervativan fallback samo ako LLM vrati nulu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TIPOVI RELACIJA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prerequisite, example_of, depends_on, 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8727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Tipovi relacija u ontologiji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8727" y="1901952"/>
            <a:ext cx="5364327" cy="780897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78727" y="1901952"/>
            <a:ext cx="91440" cy="780897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07327" y="1901952"/>
            <a:ext cx="1828800" cy="7808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prerequisite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1847" y="1901952"/>
            <a:ext cx="3169767" cy="7808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A se mora razumeti pre 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78727" y="2774289"/>
            <a:ext cx="5364327" cy="780897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78727" y="2774289"/>
            <a:ext cx="91440" cy="780897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07327" y="2774289"/>
            <a:ext cx="1828800" cy="7808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example_of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1847" y="2774289"/>
            <a:ext cx="3169767" cy="7808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A je primer pojma 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78727" y="3646627"/>
            <a:ext cx="5364327" cy="780897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78727" y="3646627"/>
            <a:ext cx="91440" cy="780897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07327" y="3646627"/>
            <a:ext cx="1828800" cy="7808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depends_on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1847" y="3646627"/>
            <a:ext cx="3169767" cy="7808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A operativno zavisi od 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8727" y="4518964"/>
            <a:ext cx="5364327" cy="780897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78727" y="4518964"/>
            <a:ext cx="91440" cy="780897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07327" y="4518964"/>
            <a:ext cx="1828800" cy="7808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similar_to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1847" y="4518964"/>
            <a:ext cx="3169767" cy="7808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A i B dele kljucnu karakteristiku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78727" y="5391302"/>
            <a:ext cx="5364327" cy="780897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278727" y="5391302"/>
            <a:ext cx="91440" cy="780897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07327" y="5391302"/>
            <a:ext cx="1828800" cy="7808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part_of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1847" y="5391302"/>
            <a:ext cx="3169767" cy="7808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A je deo strukture B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B - UROS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Uros - SPARQL upit za 'ontology anchor'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Calibri"/>
              </a:rPr>
              <a:t>Pitanje se ne pravi 'iz vazduha' - bira se konkretna veza i ona postaje kontekst.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Ontology anchor kao kontekst pitanja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01952"/>
            <a:ext cx="5364327" cy="4178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Za relacionalna i EA pitanja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SPARQL bira jedan ConceptRelationship red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Anchor postaje deo prompta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Pitanje se gradi oko jedne konkretne veze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POSLEDICE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Pitanje je trasabilno: zna se na koju vezu se odnosi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Lakse za dedup po (anchor, normalized_correct_answer)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Lakse za reviziju nastavnika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TAGS POLJE U DB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tags.ontology_anchor = {source, target, type, description}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tags.distractor_strategies = [...]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8727" y="1901952"/>
            <a:ext cx="5364327" cy="417880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43319" y="2066544"/>
            <a:ext cx="5035143" cy="3849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PREFIX :  &lt;http://.../ontology#&gt;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SELECT ?src ?type ?tgt ?desc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WHERE {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?rel a :ConceptRelationship .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?rel :source ?src ;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   :target ?tgt ;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   :relType ?type ;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   :description ?desc .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?src :inLesson &lt;lesson_42&gt; .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}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ORDER BY RAND()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LIMIT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6126480"/>
            <a:ext cx="5364327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libri"/>
              </a:rPr>
              <a:t>Biranje jedne veze kao anchor-a za prompt.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B - STEFAN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Stefan - OWL ontologija izvrsnog plana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Calibri"/>
              </a:rPr>
              <a:t>Plan koji LLM generise mora se mapirati na klase Task / Step / Action.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Stefan - OWL ontologija plana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01952"/>
            <a:ext cx="5364327" cy="4178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KLASE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Task - kompletan automatizacioni zadatak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Step - atomicna akcija u zadatku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Action - tip akcije iz fiksne liste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UIElement, Application, ExecutionState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OBJECT PROPERTIES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hasStep, hasAction, hasTarget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nextStep / previousStep, requiresApplication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DATA PROPERTIES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stepOrder, stepDescription, inputValue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targetName, waitDuration, expectedResult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8727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Primer instance Step-a u OWL/RDF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8727" y="1901952"/>
            <a:ext cx="5364327" cy="417880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3319" y="2066544"/>
            <a:ext cx="5035143" cy="3849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&lt;cu:Step rdf:about=".../Step_1"&gt;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&lt;cu:stepOrder&gt;1&lt;/cu:stepOrder&gt;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&lt;cu:hasAction rdf:resource="...open_application"/&gt;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&lt;cu:targetName&gt;Visual Studio&lt;/cu:targetName&gt;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&lt;cu:stepDescription&gt;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Start Visual Studio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&lt;/cu:stepDescription&gt;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&lt;cu:expectedResult&gt;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Visual Studio is opened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&lt;/cu:expectedResult&gt;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&lt;cu:hasState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 rdf:resource="...PendingState"/&gt;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&lt;/cu:Step&gt;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8727" y="6126480"/>
            <a:ext cx="5364327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libri"/>
              </a:rPr>
              <a:t>Skiniran iz computer_use.ttl (Stefanov repo).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B - STEFAN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Stefan - pravila validacije plana (SPARQL)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Calibri"/>
              </a:rPr>
              <a:t>Pre nego sto se ista izvrsi, SPARQL upiti proveravaju strukturna pravila.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44752"/>
          <a:ext cx="11094414" cy="4361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3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58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58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26948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Pravilo</a:t>
                      </a:r>
                    </a:p>
                  </a:txBody>
                  <a:tcPr marT="54864" marB="54864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Opis</a:t>
                      </a:r>
                    </a:p>
                  </a:txBody>
                  <a:tcPr marT="54864" marB="54864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Zasto</a:t>
                      </a:r>
                    </a:p>
                  </a:txBody>
                  <a:tcPr marT="54864" marB="54864">
                    <a:solidFill>
                      <a:srgbClr val="1B36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6948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Action validation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Samo akcije iz ontologije su dozvoljene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LLM ne moze izmisliti akciju koja ne moze biti izvrsena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6948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Sequence validation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open_application mora prethoditi interakciji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Sprecava klikove na nepostojeci prozor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26948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Wait recommendation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wait posle open_application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UI se ucitava - bez pauze klikovi promasuju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6948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Parameter validation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type_text zahteva value, key_press zahteva ime tipke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Hvata strukturne greske LLM-a u JSON izlazu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26948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Target validation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click mora imati specifican target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Bez targeta nema sta da se klikne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B - ANTI-HALUCINACIJA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Anti-halucinacioni mehanizmi - 3 ugla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Calibri"/>
              </a:rPr>
              <a:t>Svaki clan tima pokriva drugaciju vrstu greske LLM-a.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444752"/>
            <a:ext cx="3545738" cy="463600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3545738" cy="7315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73352"/>
            <a:ext cx="317997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UROS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317997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source_line citat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468880"/>
            <a:ext cx="457200" cy="15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2606040"/>
            <a:ext cx="3179978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LLM mora vratiti doslovni navod iz PDF-a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Citat opravdava tacan odgovor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Ako navod ne postoji = signal halucinacije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Recenzent vidi gde je tacan odgovor 'usidren'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2978" y="1444752"/>
            <a:ext cx="3545738" cy="463600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22978" y="1444752"/>
            <a:ext cx="3545738" cy="7315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05858" y="1673352"/>
            <a:ext cx="317997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LUKA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5858" y="1965960"/>
            <a:ext cx="317997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state-of-generation kontekst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05858" y="2468880"/>
            <a:ext cx="457200" cy="15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05858" y="2606040"/>
            <a:ext cx="3179978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Vec generisane aktivnosti ubacuju se u prompt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LLM eksplicitno cita 'ne ponavljaj ovo'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Daje koherentnost kroz ceo kurs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Smanjuje genericne, ponavljajuce ishode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97316" y="1444752"/>
            <a:ext cx="3545738" cy="463600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097316" y="1444752"/>
            <a:ext cx="3545738" cy="7315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80196" y="1673352"/>
            <a:ext cx="317997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STEFAN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0196" y="1965960"/>
            <a:ext cx="317997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SPARQL odbacuje nevalidne sekvence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80196" y="2468880"/>
            <a:ext cx="457200" cy="15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80196" y="2606040"/>
            <a:ext cx="3179978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Pre izvrsavanja - ontoloska provera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Pravila: open_app pre interakcije, wait posle open_app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type_text zahteva value, ...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Nevalidan plan = stop, ne pravi se video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B - KLJUCNA PORUKA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Kljucna poruka segmenta B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810512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C25700"/>
                </a:solidFill>
                <a:latin typeface="Calibri"/>
              </a:rPr>
              <a:t>Kljucna poruka segmenta B</a:t>
            </a:r>
          </a:p>
        </p:txBody>
      </p:sp>
      <p:sp>
        <p:nvSpPr>
          <p:cNvPr id="6" name="Rectangle 5"/>
          <p:cNvSpPr/>
          <p:nvPr/>
        </p:nvSpPr>
        <p:spPr>
          <a:xfrm>
            <a:off x="1380721" y="2450592"/>
            <a:ext cx="9430252" cy="237744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380721" y="2450592"/>
            <a:ext cx="9430252" cy="3000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746481" y="2816352"/>
            <a:ext cx="8698732" cy="1645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0" i="1">
                <a:solidFill>
                  <a:srgbClr val="1B365D"/>
                </a:solidFill>
                <a:latin typeface="Calibri"/>
              </a:rPr>
              <a:t>Ontologija je ugovor izmedju LLM-a i sistema: ono sto LLM proizvede mora se mapirati na klase i relacije. To filtrira halucinacije i omogucava ponovnu upotrebu sadrzaja.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193792"/>
            <a:ext cx="357621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1" i="0">
                <a:solidFill>
                  <a:srgbClr val="C25700"/>
                </a:solidFill>
                <a:latin typeface="Calibri"/>
              </a:rPr>
              <a:t>OWL/RDF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59552"/>
            <a:ext cx="357621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>
                <a:solidFill>
                  <a:srgbClr val="6B7280"/>
                </a:solidFill>
                <a:latin typeface="Calibri"/>
              </a:rPr>
              <a:t>definicija strukture i instanci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07738" y="5193792"/>
            <a:ext cx="357621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1" i="0">
                <a:solidFill>
                  <a:srgbClr val="C25700"/>
                </a:solidFill>
                <a:latin typeface="Calibri"/>
              </a:rPr>
              <a:t>SPARQL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07738" y="5559552"/>
            <a:ext cx="357621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>
                <a:solidFill>
                  <a:srgbClr val="6B7280"/>
                </a:solidFill>
                <a:latin typeface="Calibri"/>
              </a:rPr>
              <a:t>kontrola toka i upita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6836" y="5193792"/>
            <a:ext cx="357621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1" i="0">
                <a:solidFill>
                  <a:srgbClr val="C25700"/>
                </a:solidFill>
                <a:latin typeface="Calibri"/>
              </a:rPr>
              <a:t>Anchor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6836" y="5559552"/>
            <a:ext cx="357621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>
                <a:solidFill>
                  <a:srgbClr val="6B7280"/>
                </a:solidFill>
                <a:latin typeface="Calibri"/>
              </a:rPr>
              <a:t>vezivanje pitanja za izvor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6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2194560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5C060"/>
                </a:solidFill>
                <a:latin typeface="Calibri"/>
              </a:rPr>
              <a:t>SEGMENT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606040"/>
            <a:ext cx="10637215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Evaluacija, kvalitet i ogranicenja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160520"/>
            <a:ext cx="1371600" cy="40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4343400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D1D5DB"/>
                </a:solidFill>
                <a:latin typeface="Calibri"/>
              </a:rPr>
              <a:t>Kvalitet opada sa kognitivnom slozenoscu - to opravdava human-in-the-loop.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943600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C4C9D4"/>
                </a:solidFill>
                <a:latin typeface="Calibri"/>
              </a:rPr>
              <a:t>25 min  /  9 slajdova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C - PILOT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Pilot evaluacija SOLO pitanja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Calibri"/>
              </a:rPr>
              <a:t>Metodologija: PDF lekcije iz vise domena, anotacija po dimenzijama.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Pilot evaluacija SOLO pitanja (Uros)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01952"/>
            <a:ext cx="5364327" cy="4178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CILJ EVALUACIJE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Da li je kvalitet konstantan kroz SOLO nivoe?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Da li distraktori postaju lazni / slabi na visim nivoima?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METODOLOGIJA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Vise PDF lekcija iz razlicitih domena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N pitanja po nivou, rucna anotacija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Sudije: clanovi tima + nezavisni recenzent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Metrike: valjanost, kvalitet distraktora, source-line tacnost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FORMAT IZLAZA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Skor na skali 1-5 po dimenziji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Komentari za kvalitativnu analizu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8727" y="1444752"/>
            <a:ext cx="5364327" cy="4727448"/>
          </a:xfrm>
          <a:prstGeom prst="rect">
            <a:avLst/>
          </a:prstGeom>
          <a:solidFill>
            <a:srgbClr val="EEEF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78727" y="3442716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2000" b="1" i="0">
                <a:solidFill>
                  <a:srgbClr val="6B7280"/>
                </a:solidFill>
                <a:latin typeface="Calibri"/>
              </a:rPr>
              <a:t>[ Slika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3854196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Tabela metrike po nivou / domenu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C - REZULTATI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Rezultati - kvalitet po SOLO nivou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Calibri"/>
              </a:rPr>
              <a:t>Validnost i kvalitet distraktora padaju kako se ide ka EA nivou.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Rezultati - kvalitet po SOLO nivou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01952"/>
            <a:ext cx="1371600" cy="7840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Calibri"/>
              </a:rPr>
              <a:t>Unistructural</a:t>
            </a:r>
          </a:p>
        </p:txBody>
      </p:sp>
      <p:sp>
        <p:nvSpPr>
          <p:cNvPr id="8" name="Rectangle 7"/>
          <p:cNvSpPr/>
          <p:nvPr/>
        </p:nvSpPr>
        <p:spPr>
          <a:xfrm>
            <a:off x="1965960" y="2019566"/>
            <a:ext cx="3901287" cy="54886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965960" y="2019566"/>
            <a:ext cx="3589184" cy="548868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646584" y="1901952"/>
            <a:ext cx="640080" cy="7840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92%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850642"/>
            <a:ext cx="1371600" cy="7840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Calibri"/>
              </a:rPr>
              <a:t>Multistructural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65960" y="2968256"/>
            <a:ext cx="3901287" cy="54886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965960" y="2968256"/>
            <a:ext cx="3316094" cy="548868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373494" y="2850642"/>
            <a:ext cx="640080" cy="7840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85%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99332"/>
            <a:ext cx="1371600" cy="7840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Calibri"/>
              </a:rPr>
              <a:t>Relational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65960" y="3916946"/>
            <a:ext cx="3901287" cy="54886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965960" y="3916946"/>
            <a:ext cx="2730901" cy="548868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88301" y="3799332"/>
            <a:ext cx="640080" cy="7840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70%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748022"/>
            <a:ext cx="1371600" cy="7840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Calibri"/>
              </a:rPr>
              <a:t>Extended Abstract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65960" y="4865636"/>
            <a:ext cx="3901287" cy="54886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1965960" y="4865636"/>
            <a:ext cx="2145708" cy="548868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203108" y="4748022"/>
            <a:ext cx="640080" cy="7840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55%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62356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libri"/>
              </a:rPr>
              <a:t>Hipoteticne brojke iz pilot evaluacije - tacne brojke izlazu u radu.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8727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Sta vidimo u rezultatima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78727" y="1901952"/>
            <a:ext cx="5364327" cy="4178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Validnost odgovora pada sa porastom SOLO nivoa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Distraktori postaju manje uverljivi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EA: cesto se 'distraktor' moze odbraniti kao tacan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POSLEDICA ZA SISTEM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Two-pass + typed distractor strategije pomazu, ali ne resavaju potpuno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Ontology anchor stabilizuje relacionalna pitanja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Na EA nivou - obavezna recenzija nastavnika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C - PRIMERI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Primeri SOLO pitanja iz domena Operativnih sistema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Primeri pitanja po SOLO nivoima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01952"/>
            <a:ext cx="11094415" cy="964692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901952"/>
            <a:ext cx="109728" cy="96469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993392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UNISTRUCTURAL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1993392"/>
            <a:ext cx="853409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Calibri"/>
              </a:rPr>
              <a:t>Q: Koja struktura procesa cuva PID?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2496312"/>
            <a:ext cx="8534095" cy="3246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1F2937"/>
                </a:solidFill>
                <a:latin typeface="Calibri"/>
              </a:rPr>
              <a:t>A: PCB - Process Control Block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003804"/>
            <a:ext cx="11094415" cy="964692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3003804"/>
            <a:ext cx="109728" cy="96469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3095244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MULTISTRUCTURAL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095244"/>
            <a:ext cx="853409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Calibri"/>
              </a:rPr>
              <a:t>Q: Koja tri stanja procesa najcesce prepoznajemo?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3598164"/>
            <a:ext cx="8534095" cy="3246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1F2937"/>
                </a:solidFill>
                <a:latin typeface="Calibri"/>
              </a:rPr>
              <a:t>A: Ready, Running, Blocked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105656"/>
            <a:ext cx="11094415" cy="964692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4105656"/>
            <a:ext cx="109728" cy="96469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4197096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RELATIONAL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4197096"/>
            <a:ext cx="853409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Calibri"/>
              </a:rPr>
              <a:t>Q: Kako kontekstno prebacivanje uticne na throughput sistema?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4700016"/>
            <a:ext cx="8534095" cy="3246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1F2937"/>
                </a:solidFill>
                <a:latin typeface="Calibri"/>
              </a:rPr>
              <a:t>A: Povecava overhead, smanjuje koristan rad CPU-a.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207508"/>
            <a:ext cx="11094415" cy="964692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48640" y="5207508"/>
            <a:ext cx="109728" cy="96469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7240" y="5298948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EXTENDED ABSTRACT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0" y="5298948"/>
            <a:ext cx="853409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Calibri"/>
              </a:rPr>
              <a:t>Q: Kako biste prilagodili scheduling algoritam za real-time sistem sa zagarantovanim deadline-om?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5801868"/>
            <a:ext cx="8534095" cy="3246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1F2937"/>
                </a:solidFill>
                <a:latin typeface="Calibri"/>
              </a:rPr>
              <a:t>A: EDF / RM, prioritet po roku, preemption, ...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C - LUKA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Luka - Bloomova pokrivenost generisanih kurseva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Calibri"/>
              </a:rPr>
              <a:t>Vidimo gde sistem dobro pokriva nivoe, a gde tek 'dotice' visa misljenja.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Bloomova pokrivenost (Luka)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01952"/>
            <a:ext cx="5364327" cy="4178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METRIKA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Da li su zastupljeni svi Bloomovi nivoi?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Koliko aktivnosti po nivou?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Da li su ishodi mapirani na vise od jednog nivoa?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PRISTUP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LLM eksplicitno trazi po svakom nivou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Sistem ne prelazi na sledeci nivo dok prethodni nije mapiran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Dedup po (ishod, aktivnost_tip)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NALAZ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Najbolji rezultati: Pamtiti i Razumeti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Slabiji: Evaluirati i Kreirati - cesto se 'dotiknu' samo povrsno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8727" y="1444752"/>
            <a:ext cx="5364327" cy="4727448"/>
          </a:xfrm>
          <a:prstGeom prst="rect">
            <a:avLst/>
          </a:prstGeom>
          <a:solidFill>
            <a:srgbClr val="EEEF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78727" y="3442716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2000" b="1" i="0">
                <a:solidFill>
                  <a:srgbClr val="6B7280"/>
                </a:solidFill>
                <a:latin typeface="Calibri"/>
              </a:rPr>
              <a:t>[ Slika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3854196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Bar chart - broj aktivnosti po Bloomovom nivou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C - STEFAN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Stefan - robustnost izvrsenja video tutorijala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Calibri"/>
              </a:rPr>
              <a:t>Vision modeli su odlicni, ali ne savrseni - non-standard UI je glavna bolna tacka.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UI detekcija - sta sve moze da pukne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01952"/>
            <a:ext cx="5364327" cy="4178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VISION MODEL: QWEN 2.5 VL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Trazi UI element po opisu (lokacija + box)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OGRANICENJA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Non-standard UI frameworks (custom controls)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Brzo menjajuce interfejse (animacije, lazy load)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Nizak kontrast / non-English labele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Multi-monitor setup - samo primarni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POSLEDICE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Step fail - sistem zaustavlja izvrsenje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Video se zavrsava 'kratko' (do tacke prekida)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Logujemo gde je tacno puklo - olaksava debug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8727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Testirane aplikacije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8727" y="1901952"/>
            <a:ext cx="5364327" cy="65074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78727" y="1901952"/>
            <a:ext cx="73152" cy="650748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61607" y="1901952"/>
            <a:ext cx="3218596" cy="6507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Calibri"/>
              </a:rPr>
              <a:t>Visual Studio 2022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4610" y="1901952"/>
            <a:ext cx="1931157" cy="6507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500" b="0" i="0">
                <a:solidFill>
                  <a:srgbClr val="1B365D"/>
                </a:solidFill>
                <a:latin typeface="Calibri"/>
              </a:rPr>
              <a:t>Stabilno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78727" y="2625852"/>
            <a:ext cx="5364327" cy="65074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78727" y="2625852"/>
            <a:ext cx="73152" cy="650748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61607" y="2625852"/>
            <a:ext cx="3218596" cy="6507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Calibri"/>
              </a:rPr>
              <a:t>VS 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4610" y="2625852"/>
            <a:ext cx="1931157" cy="6507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500" b="0" i="0">
                <a:solidFill>
                  <a:srgbClr val="1B365D"/>
                </a:solidFill>
                <a:latin typeface="Calibri"/>
              </a:rPr>
              <a:t>Stabilno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78727" y="3349752"/>
            <a:ext cx="5364327" cy="65074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78727" y="3349752"/>
            <a:ext cx="73152" cy="650748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61607" y="3349752"/>
            <a:ext cx="3218596" cy="6507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Calibri"/>
              </a:rPr>
              <a:t>Chrome / Firefox / Edge / Opera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4610" y="3349752"/>
            <a:ext cx="1931157" cy="6507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500" b="0" i="0">
                <a:solidFill>
                  <a:srgbClr val="1B365D"/>
                </a:solidFill>
                <a:latin typeface="Calibri"/>
              </a:rPr>
              <a:t>Stabilno (web cases)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8727" y="4073652"/>
            <a:ext cx="5364327" cy="65074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78727" y="4073652"/>
            <a:ext cx="73152" cy="650748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61607" y="4073652"/>
            <a:ext cx="3218596" cy="6507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Calibri"/>
              </a:rPr>
              <a:t>Notepad / Notepad++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4610" y="4073652"/>
            <a:ext cx="1931157" cy="6507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500" b="0" i="0">
                <a:solidFill>
                  <a:srgbClr val="1B365D"/>
                </a:solidFill>
                <a:latin typeface="Calibri"/>
              </a:rPr>
              <a:t>Stabilno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78727" y="4797552"/>
            <a:ext cx="5364327" cy="65074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278727" y="4797552"/>
            <a:ext cx="73152" cy="650748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61607" y="4797552"/>
            <a:ext cx="3218596" cy="6507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Calibri"/>
              </a:rPr>
              <a:t>Custom WinForms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4610" y="4797552"/>
            <a:ext cx="1931157" cy="6507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500" b="0" i="0">
                <a:solidFill>
                  <a:srgbClr val="C25700"/>
                </a:solidFill>
                <a:latin typeface="Calibri"/>
              </a:rPr>
              <a:t>Nestabilno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78727" y="5521452"/>
            <a:ext cx="5364327" cy="65074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278727" y="5521452"/>
            <a:ext cx="73152" cy="650748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61607" y="5521452"/>
            <a:ext cx="3218596" cy="6507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Calibri"/>
              </a:rPr>
              <a:t>Web app sa lazy UI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4610" y="5521452"/>
            <a:ext cx="1931157" cy="6507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500" b="0" i="0">
                <a:solidFill>
                  <a:srgbClr val="C25700"/>
                </a:solidFill>
                <a:latin typeface="Calibri"/>
              </a:rPr>
              <a:t>Nestabilno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C - UROS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PDF Coverage Tracking - heatmap pokrivenosti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Calibri"/>
              </a:rPr>
              <a:t>Sistem sam ti kaze gde da generises jos pitanja.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PDF Coverage Tracking (Uros)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01952"/>
            <a:ext cx="5364327" cy="4178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STA MERI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Koje su stranice PDF-a pokrivene pitanjima?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Ponderisana pokrivenost po broju znakova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Sustinska pokrivenost (izuzima skoro prazne stranice)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VIZUALNO - HEATMAP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Bar po stranici, visina = broj znakova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Boja = da li je stranica pokrivena pitanjima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Lista sustinskih stranica bez pitanja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POSLEDICA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Sistem ti sam kaze gde da generises jos pitanja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Heatmap je 'second pair of eyes' za nastavnika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8727" y="1444752"/>
            <a:ext cx="5364327" cy="4727448"/>
          </a:xfrm>
          <a:prstGeom prst="rect">
            <a:avLst/>
          </a:prstGeom>
          <a:solidFill>
            <a:srgbClr val="EEEF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78727" y="3442716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2000" b="1" i="0">
                <a:solidFill>
                  <a:srgbClr val="6B7280"/>
                </a:solidFill>
                <a:latin typeface="Calibri"/>
              </a:rPr>
              <a:t>[ Slika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3854196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Coverage heatmap - screenshot iz UI-ja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C - HITL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Granice automatizacije i human-in-the-loop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Calibri"/>
              </a:rPr>
              <a:t>Sistem snima 80% rada; covek validira i fino podesava.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Granice automatizacije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01952"/>
            <a:ext cx="5364327" cy="4178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Definisanje ishoda - zahteva pedagosku procenu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Procena tezine pitanja u kontekstu grupe - dinamicki kontekst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Procena EA pitanja - cesto dvosmislena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Recenzija video tutorijala - da li je didakticki dobar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Konacno korigovanje halucinacija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SVE OVO RADI - COVEK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Sistem snima pripremu (do 80% rada)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Covek validira i fino podesava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8727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Human-in-the-loop u nasem pipeline-u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8727" y="1901952"/>
            <a:ext cx="5364327" cy="985266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78727" y="1901952"/>
            <a:ext cx="73152" cy="985266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07327" y="1993392"/>
            <a:ext cx="5090007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1. Sistem generise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7327" y="2313432"/>
            <a:ext cx="5090007" cy="5280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Struktura, pitanja, video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78727" y="2996946"/>
            <a:ext cx="5364327" cy="985266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78727" y="2996946"/>
            <a:ext cx="73152" cy="985266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07327" y="3088386"/>
            <a:ext cx="5090007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2. Nastavnik pregleda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7327" y="3408426"/>
            <a:ext cx="5090007" cy="5280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source_line + ontology anchor + coverage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78727" y="4091940"/>
            <a:ext cx="5364327" cy="985266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78727" y="4091940"/>
            <a:ext cx="73152" cy="985266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07327" y="4183380"/>
            <a:ext cx="5090007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3. Nastavnik koriguje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7327" y="4503420"/>
            <a:ext cx="5090007" cy="5280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Edituje pitanja, rasporedjuje aktivnosti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8727" y="5186934"/>
            <a:ext cx="5364327" cy="985266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78727" y="5186934"/>
            <a:ext cx="73152" cy="985266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07327" y="5278374"/>
            <a:ext cx="5090007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4. Sistem belezi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7327" y="5598414"/>
            <a:ext cx="5090007" cy="5280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Promene u DB - feedback za buduce generisanje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C - KLJUCNA PORUKA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Kljucna poruka segmenta C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810512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C25700"/>
                </a:solidFill>
                <a:latin typeface="Calibri"/>
              </a:rPr>
              <a:t>Kljucna poruka segmenta C</a:t>
            </a:r>
          </a:p>
        </p:txBody>
      </p:sp>
      <p:sp>
        <p:nvSpPr>
          <p:cNvPr id="6" name="Rectangle 5"/>
          <p:cNvSpPr/>
          <p:nvPr/>
        </p:nvSpPr>
        <p:spPr>
          <a:xfrm>
            <a:off x="1380721" y="2450592"/>
            <a:ext cx="9430252" cy="237744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380721" y="2450592"/>
            <a:ext cx="9430252" cy="3000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746481" y="2816352"/>
            <a:ext cx="8698732" cy="1645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0" i="1">
                <a:solidFill>
                  <a:srgbClr val="1B365D"/>
                </a:solidFill>
                <a:latin typeface="Calibri"/>
              </a:rPr>
              <a:t>Kvalitet automatski generisanog sadrzaja opada sa porastom kognitivne slozenosti - to nije bug, vec strukturna posledica, i upravo zato je human-in-the-loop obavezan.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6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2194560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5C060"/>
                </a:solidFill>
                <a:latin typeface="Calibri"/>
              </a:rPr>
              <a:t>SEGMENT 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606040"/>
            <a:ext cx="10637215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Sinteza, buduci rad, zakljucak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160520"/>
            <a:ext cx="1371600" cy="40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4343400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D1D5DB"/>
                </a:solidFill>
                <a:latin typeface="Calibri"/>
              </a:rPr>
              <a:t>Kako tri komponente postaju jedan sistem - i sta sledi.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943600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C4C9D4"/>
                </a:solidFill>
                <a:latin typeface="Calibri"/>
              </a:rPr>
              <a:t>10-15 min  /  7 slajdova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D - ARHITEKTURA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Predlog integrisane arhitekture - 4 sloja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Calibri"/>
              </a:rPr>
              <a:t>Sloj po sloj: planiranje -&gt; znanje -&gt; procena -&gt; demonstracija.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Integrisana arhitektura - predlog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01952"/>
            <a:ext cx="5364327" cy="4178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SLOJ 1 - COURSE PLANNER (LUKA)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Strukturu kursa generise iz ishoda + PDF-a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Izlaz: JSON / OWL hijerarhija aktivnosti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SLOJ 2 - KNOWLEDGE LAYER (UROS)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ConceptRelationship ontologija iz lekcija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Source-of-truth za relacije pojmova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SLOJ 3 - ASSESSMENT (UROS)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SOLO pitanja, ankored na knowledge layer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SLOJ 4 - DEMONSTRATION (STEFAN)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Praktiche aktivnosti -&gt; NL instrukcija -&gt; video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8727" y="1444752"/>
            <a:ext cx="5364327" cy="4727448"/>
          </a:xfrm>
          <a:prstGeom prst="rect">
            <a:avLst/>
          </a:prstGeom>
          <a:solidFill>
            <a:srgbClr val="EEEF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78727" y="3442716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2000" b="1" i="0">
                <a:solidFill>
                  <a:srgbClr val="6B7280"/>
                </a:solidFill>
                <a:latin typeface="Calibri"/>
              </a:rPr>
              <a:t>[ Slika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3854196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Dijagram integrisane arhitekture (4 sloja)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D - ARHITEKTURA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Tok podataka kroz integrisan sistem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Calibri"/>
              </a:rPr>
              <a:t>Sest koraka, od ucitavanja materijala do recenzije nastavnika.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Tok podataka kroz integrisan sistem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01952"/>
            <a:ext cx="11094415" cy="63550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901952"/>
            <a:ext cx="640080" cy="635508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901952"/>
            <a:ext cx="640080" cy="6355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947672"/>
            <a:ext cx="1018001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Nastavnik ucitava materijal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267712"/>
            <a:ext cx="10180015" cy="269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PDF lekcije, lista ishoda, opis kursa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628900"/>
            <a:ext cx="11094415" cy="63550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48640" y="2628900"/>
            <a:ext cx="640080" cy="635508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2628900"/>
            <a:ext cx="640080" cy="6355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2674620"/>
            <a:ext cx="1018001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Course Planner gradi strukturu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994660"/>
            <a:ext cx="10180015" cy="269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Moduli -&gt; koncepti -&gt; ishodi -&gt; aktivnosti (Bloom-aware)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355848"/>
            <a:ext cx="11094415" cy="63550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48640" y="3355848"/>
            <a:ext cx="640080" cy="635508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3355848"/>
            <a:ext cx="640080" cy="6355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3401568"/>
            <a:ext cx="1018001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Knowledge Layer ekstrahuje ontologiju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3721608"/>
            <a:ext cx="10180015" cy="269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Multi-pass LLM ekstrakcija ConceptRelationship-ova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082796"/>
            <a:ext cx="11094415" cy="63550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48640" y="4082796"/>
            <a:ext cx="640080" cy="635508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48640" y="4082796"/>
            <a:ext cx="640080" cy="6355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25880" y="4128516"/>
            <a:ext cx="1018001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Assessment generise SOLO pitanja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4448556"/>
            <a:ext cx="10180015" cy="269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Anchor iz Knowledge Layer-a, PS4 prompt, source_line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809744"/>
            <a:ext cx="11094415" cy="63550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48640" y="4809744"/>
            <a:ext cx="640080" cy="635508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48640" y="4809744"/>
            <a:ext cx="640080" cy="6355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25880" y="4855464"/>
            <a:ext cx="1018001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Demonstration generise video za prakticnu aktivnost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25880" y="5175504"/>
            <a:ext cx="10180015" cy="269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NL instrukcija -&gt; OWL plan -&gt; validacija -&gt; izvrsenje + snimanje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5536692"/>
            <a:ext cx="11094415" cy="63550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48640" y="5536692"/>
            <a:ext cx="640080" cy="635508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48640" y="5536692"/>
            <a:ext cx="640080" cy="6355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5880" y="5582412"/>
            <a:ext cx="1018001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Nastavnik pregleda i koriguje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25880" y="5902452"/>
            <a:ext cx="10180015" cy="269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Coverage heatmap, source_line provera, video review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D - VEZE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Veze sa drugim temama predmeta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Calibri"/>
              </a:rPr>
              <a:t>DRL i Recommender Systems prirodno produzavaju ovaj pipeline.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444752"/>
            <a:ext cx="5410047" cy="463600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5410047" cy="7315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495284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Deep Reinforcement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21992"/>
            <a:ext cx="49528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C25700"/>
                </a:solidFill>
                <a:latin typeface="Calibri"/>
              </a:rPr>
              <a:t>Adaptivno biranje pitanja i puta ucenja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587752"/>
            <a:ext cx="548640" cy="15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2770632"/>
            <a:ext cx="4952847" cy="3127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State: profil studenta + istorija odgovora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Action: izbor narednog pitanja / aktivnosti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Reward: napredak na SOLO / Bloomovoj skali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Veza sa temom DRL for ITS sa liste predmeta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1444752"/>
            <a:ext cx="5410047" cy="463600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33007" y="1444752"/>
            <a:ext cx="5410047" cy="7315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61607" y="1719072"/>
            <a:ext cx="495284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Recommender Systems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1607" y="2221992"/>
            <a:ext cx="49528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C25700"/>
                </a:solidFill>
                <a:latin typeface="Calibri"/>
              </a:rPr>
              <a:t>Personalizacija puteva ucenja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61607" y="2587752"/>
            <a:ext cx="548640" cy="15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61607" y="2770632"/>
            <a:ext cx="4952847" cy="3127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Sadrzaj-based: ontology anchor sluzi kao feature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Collaborative: studenti sa slicnim odgovorima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Hibridno: koristi obe signala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Veza sa temom Recommenders for ITS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D - BUDUCI RAD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Otvorena pitanja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Otvorena pitanja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01952"/>
            <a:ext cx="11094415" cy="766267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901952"/>
            <a:ext cx="457200" cy="766267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901952"/>
            <a:ext cx="457200" cy="76626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Q1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47672"/>
            <a:ext cx="103628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Kvalitet distraktora na EA nivou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67712"/>
            <a:ext cx="10362895" cy="4005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Kako podici uverljivost bez gubitka SOLO 'tipa' greske?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777947"/>
            <a:ext cx="11094415" cy="766267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2777947"/>
            <a:ext cx="457200" cy="766267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2777947"/>
            <a:ext cx="457200" cy="76626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Q2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823667"/>
            <a:ext cx="103628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Real-world evaluacija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143707"/>
            <a:ext cx="10362895" cy="4005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Sistem nije jos testiran u stvarnoj ucionici - to je sledeci korak.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653942"/>
            <a:ext cx="11094415" cy="766267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3653942"/>
            <a:ext cx="457200" cy="766267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3653942"/>
            <a:ext cx="457200" cy="76626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Q3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699662"/>
            <a:ext cx="103628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Multimodalna procena znanja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019702"/>
            <a:ext cx="10362895" cy="4005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Kako uracunati ne samo tekstualne odgovore vec i prakticne demonstracije?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529937"/>
            <a:ext cx="11094415" cy="766267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48640" y="4529937"/>
            <a:ext cx="457200" cy="766267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8640" y="4529937"/>
            <a:ext cx="457200" cy="76626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Q4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4575657"/>
            <a:ext cx="103628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Stabilnost vision modela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4895697"/>
            <a:ext cx="10362895" cy="4005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Custom UI ostaju izazov; integracija sa accessibility API-jima?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405932"/>
            <a:ext cx="11094415" cy="766267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48640" y="5405932"/>
            <a:ext cx="457200" cy="766267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48640" y="5405932"/>
            <a:ext cx="457200" cy="76626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Q5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5451652"/>
            <a:ext cx="103628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Skaliranje na vise predmeta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5771692"/>
            <a:ext cx="10362895" cy="4005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Da li se ontologija prenosi izmedju domena ili je svaki predmet svoja TBox?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D - BUDUCI RAD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Naredni koraci - kratki i duzi rok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Naredni koraci - kratki rok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01952"/>
            <a:ext cx="5364327" cy="4178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Spojiti tri repozitorijuma u jedan monorepo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Definisati API kontrakte izmedju slojeva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Zajednicka ontoloska osnova (deljena seed_ontology)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Demo end-to-end pipe za jedan predmet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KONFERENCIJA SINTEZA 2026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Jedan rad iz tima vec publikovan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Cilj: drugi rad o integraciji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78727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Naredni koraci - duzi rok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8727" y="1901952"/>
            <a:ext cx="5364327" cy="4178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Pilot u stvarnoj ucionici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Adaptivno biranje pitanja (DRL prototip)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Personalizacija puta ucenja (Recommender)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Multimodalna procena znanja (audio / kod / video)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Skaliranje na vise predmeta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ETIKA I PRIVATNOST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Lokalni LLM kao osnovna opcija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Pravo nastavnika na konacnu rec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D - ZAKLJUCAK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Zakljucak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Calibri"/>
              </a:rPr>
              <a:t>Vracamo se na pocetnu poruku.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627632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C25700"/>
                </a:solidFill>
                <a:latin typeface="Calibri"/>
              </a:rPr>
              <a:t>Sta smo pokazali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84832"/>
            <a:ext cx="11094415" cy="78409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2084832"/>
            <a:ext cx="91440" cy="784098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2176272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LLM sam nije dovoljan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96312"/>
            <a:ext cx="10728655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halucinacije + nedostatak strukture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033522"/>
            <a:ext cx="11094415" cy="78409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3033522"/>
            <a:ext cx="91440" cy="784098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3124962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Pedagoska taksonomija kalibrise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45002"/>
            <a:ext cx="10728655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Bloom + SOLO kao kompas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982212"/>
            <a:ext cx="11094415" cy="78409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48640" y="3982212"/>
            <a:ext cx="91440" cy="784098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4073652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Ontologija filtrira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393692"/>
            <a:ext cx="10728655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OWL/SPARQL + source_line + ontology anchor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930902"/>
            <a:ext cx="11094415" cy="78409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48640" y="4930902"/>
            <a:ext cx="91440" cy="784098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7240" y="5022342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Human-in-the-loop ostaje obavezan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342382"/>
            <a:ext cx="10728655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narocito na visim SOLO nivoima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4000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ZAKLJUCNA MISAO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194560"/>
            <a:ext cx="9448495" cy="2743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0" i="1">
                <a:solidFill>
                  <a:srgbClr val="1B365D"/>
                </a:solidFill>
                <a:latin typeface="Calibri"/>
              </a:rPr>
              <a:t>“LLM + ontologija + pedagoska taksonomija = pouzdano, pedagoski kalibrisano ITS okruzenje koje je vise od zbira svojih delova.”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5029200"/>
            <a:ext cx="94484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0" i="0">
                <a:solidFill>
                  <a:srgbClr val="6B7280"/>
                </a:solidFill>
                <a:latin typeface="Calibri"/>
              </a:rPr>
              <a:t>- kljucna poruka prezentacije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6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2560320"/>
            <a:ext cx="10637215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Hvala na paznji.</a:t>
            </a:r>
          </a:p>
        </p:txBody>
      </p:sp>
      <p:sp>
        <p:nvSpPr>
          <p:cNvPr id="3" name="Rectangle 2"/>
          <p:cNvSpPr/>
          <p:nvPr/>
        </p:nvSpPr>
        <p:spPr>
          <a:xfrm>
            <a:off x="5547207" y="3840480"/>
            <a:ext cx="1097280" cy="40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114800"/>
            <a:ext cx="1063721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0" i="1">
                <a:solidFill>
                  <a:srgbClr val="E5E7EB"/>
                </a:solidFill>
                <a:latin typeface="Calibri"/>
              </a:rPr>
              <a:t>Pitanja i diskusija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00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0" i="0">
                <a:solidFill>
                  <a:srgbClr val="C4C9D4"/>
                </a:solidFill>
                <a:latin typeface="Calibri"/>
              </a:rPr>
              <a:t>Uros Petraskovic - Luka Saric - Stefan Lazarevic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LITERATURA -1 /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Literatura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Calibri"/>
              </a:rPr>
              <a:t>Pedagoske taksonomije i LLM u obrazovanju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1109441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C25700"/>
                </a:solidFill>
                <a:latin typeface="Calibri"/>
              </a:rPr>
              <a:t>Pedagoske taksonomije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64792"/>
            <a:ext cx="1091153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Biggs, J.B. &amp; Collis, K.F. (1982). Evaluating the Quality of Learning: The SOLO Taxonomy. Academic Press.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03704"/>
            <a:ext cx="1091153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Anderson, L.W. &amp; Krathwohl, D.R. (2001). A Taxonomy for Learning, Teaching, and Assessing. Longman.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42616"/>
            <a:ext cx="1091153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Lister, R., et al. (2006). Not Seeing the Forest for the Trees: Novice Programmers and the SOLO Taxonomy. ACM SIGCSE Bulletin, 38(3).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72968"/>
            <a:ext cx="1109441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C25700"/>
                </a:solidFill>
                <a:latin typeface="Calibri"/>
              </a:rPr>
              <a:t>LLM u obrazovanju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493008"/>
            <a:ext cx="1091153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Kasneci, E., et al. (2023). ChatGPT for good? Learning and Individual Differences, 103.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1091153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Yan, L., et al. (2024). Practical and ethical challenges of LLMs in education. BJET, 55(1).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370832"/>
            <a:ext cx="1091153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Wang, S., et al. (2024). Large Language Models for Education: A Survey. arXiv:2403.18105.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LITERATURA -2 /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Literatura (nastavak)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Calibri"/>
              </a:rPr>
              <a:t>Generisanje pitanja, ontologije, ITS, multimodal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1109441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C25700"/>
                </a:solidFill>
                <a:latin typeface="Calibri"/>
              </a:rPr>
              <a:t>Automatsko generisanje pitanja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64792"/>
            <a:ext cx="1091153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Kurdi, G., et al. (2020). A Systematic Review of Automatic Question Generation. IJAIED, 30(1).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03704"/>
            <a:ext cx="1091153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Liang, C., et al. (2018). Distractor Generation for Multiple Choice Questions Using Learning to Rank. NAACL Workshop.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34056"/>
            <a:ext cx="1109441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C25700"/>
                </a:solidFill>
                <a:latin typeface="Calibri"/>
              </a:rPr>
              <a:t>Ontologije i Semantic 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54096"/>
            <a:ext cx="1091153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Vesin, B., et al. (2013). Ontology-based architecture with recommendation strategy in Java tutoring. CSIS, 10(1).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493008"/>
            <a:ext cx="1091153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Hogan, A., et al. (2021). Knowledge Graphs. ACM Computing Surveys, 54(4).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23360"/>
            <a:ext cx="1109441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C25700"/>
                </a:solidFill>
                <a:latin typeface="Calibri"/>
              </a:rPr>
              <a:t>Intelligent Tutoring Systems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343400"/>
            <a:ext cx="1091153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Mousavinasab, E., et al. (2021). ITS: systematic review. Interactive Learning Environments, 29(1).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782312"/>
            <a:ext cx="1091153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Lin, C.-C., et al. (2023). AI in ITS toward sustainable education. Smart Learning Environments, 10(1).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312664"/>
            <a:ext cx="1109441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C25700"/>
                </a:solidFill>
                <a:latin typeface="Calibri"/>
              </a:rPr>
              <a:t>Multimodalni agenti i Computer 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632704"/>
            <a:ext cx="1091153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Anthropic (2024). Developing a computer use model. Technical report.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071616"/>
            <a:ext cx="1091153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Xie, T., et al. (2024). OSWorld: Benchmarking Multimodal Agents. NeurIPS 2024.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5535</Words>
  <Application>Microsoft Office PowerPoint</Application>
  <PresentationFormat>Widescreen</PresentationFormat>
  <Paragraphs>948</Paragraphs>
  <Slides>53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7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Uros Petraskovic</cp:lastModifiedBy>
  <cp:revision>1</cp:revision>
  <dcterms:created xsi:type="dcterms:W3CDTF">2013-01-27T09:14:16Z</dcterms:created>
  <dcterms:modified xsi:type="dcterms:W3CDTF">2026-05-20T22:05:49Z</dcterms:modified>
  <cp:category/>
</cp:coreProperties>
</file>